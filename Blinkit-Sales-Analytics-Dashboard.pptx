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Petrona"/>
      <p:regular r:id="rId17"/>
    </p:embeddedFont>
    <p:embeddedFont>
      <p:font typeface="Petrona"/>
      <p:regular r:id="rId18"/>
    </p:embeddedFont>
    <p:embeddedFont>
      <p:font typeface="Petrona"/>
      <p:regular r:id="rId19"/>
    </p:embeddedFont>
    <p:embeddedFont>
      <p:font typeface="Petrona"/>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CCEEFF"/>
          </a:solidFill>
          <a:ln/>
        </p:spPr>
      </p:sp>
      <p:pic>
        <p:nvPicPr>
          <p:cNvPr id="3" name="Image 0" descr="preencoded.png">    </p:cNvPr>
          <p:cNvPicPr>
            <a:picLocks noChangeAspect="1"/>
          </p:cNvPicPr>
          <p:nvPr/>
        </p:nvPicPr>
        <p:blipFill>
          <a:blip r:embed="rId1"/>
          <a:stretch>
            <a:fillRect/>
          </a:stretch>
        </p:blipFill>
        <p:spPr>
          <a:xfrm>
            <a:off x="113348" y="608290"/>
            <a:ext cx="5259586" cy="7012900"/>
          </a:xfrm>
          <a:prstGeom prst="rect">
            <a:avLst/>
          </a:prstGeom>
        </p:spPr>
      </p:pic>
      <p:sp>
        <p:nvSpPr>
          <p:cNvPr id="4" name="Text 1"/>
          <p:cNvSpPr/>
          <p:nvPr/>
        </p:nvSpPr>
        <p:spPr>
          <a:xfrm>
            <a:off x="6280190" y="3018949"/>
            <a:ext cx="7556421" cy="1488519"/>
          </a:xfrm>
          <a:prstGeom prst="rect">
            <a:avLst/>
          </a:prstGeom>
          <a:noFill/>
          <a:ln/>
        </p:spPr>
        <p:txBody>
          <a:bodyPr wrap="square" lIns="0" tIns="0" rIns="0" bIns="0" rtlCol="0" anchor="t"/>
          <a:lstStyle/>
          <a:p>
            <a:pPr algn="l" indent="0" marL="0">
              <a:lnSpc>
                <a:spcPts val="5850"/>
              </a:lnSpc>
              <a:buNone/>
            </a:pPr>
            <a:r>
              <a:rPr lang="en-US" sz="4650" b="1" dirty="0">
                <a:solidFill>
                  <a:srgbClr val="000000"/>
                </a:solidFill>
                <a:latin typeface="Petrona Bold" pitchFamily="34" charset="0"/>
                <a:ea typeface="Petrona Bold" pitchFamily="34" charset="-122"/>
                <a:cs typeface="Petrona Bold" pitchFamily="34" charset="-120"/>
              </a:rPr>
              <a:t>Blinkit Sales Analytics Dashboard</a:t>
            </a:r>
            <a:endParaRPr lang="en-US" sz="4650" dirty="0"/>
          </a:p>
        </p:txBody>
      </p:sp>
      <p:sp>
        <p:nvSpPr>
          <p:cNvPr id="5" name="Text 2"/>
          <p:cNvSpPr/>
          <p:nvPr/>
        </p:nvSpPr>
        <p:spPr>
          <a:xfrm>
            <a:off x="6280190" y="484763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Power BI Implementation for Data-Driven Decision Making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14795"/>
            <a:ext cx="5954197" cy="744260"/>
          </a:xfrm>
          <a:prstGeom prst="rect">
            <a:avLst/>
          </a:prstGeom>
          <a:noFill/>
          <a:ln/>
        </p:spPr>
        <p:txBody>
          <a:bodyPr wrap="none" lIns="0" tIns="0" rIns="0" bIns="0" rtlCol="0" anchor="t"/>
          <a:lstStyle/>
          <a:p>
            <a:pPr algn="l" indent="0" marL="0">
              <a:lnSpc>
                <a:spcPts val="5850"/>
              </a:lnSpc>
              <a:buNone/>
            </a:pPr>
            <a:r>
              <a:rPr lang="en-US" sz="4650" b="1" dirty="0">
                <a:solidFill>
                  <a:srgbClr val="000000"/>
                </a:solidFill>
                <a:latin typeface="Petrona Bold" pitchFamily="34" charset="0"/>
                <a:ea typeface="Petrona Bold" pitchFamily="34" charset="-122"/>
                <a:cs typeface="Petrona Bold" pitchFamily="34" charset="-120"/>
              </a:rPr>
              <a:t>Project Overview</a:t>
            </a:r>
            <a:endParaRPr lang="en-US" sz="4650" dirty="0"/>
          </a:p>
        </p:txBody>
      </p:sp>
      <p:sp>
        <p:nvSpPr>
          <p:cNvPr id="3" name="Text 1"/>
          <p:cNvSpPr/>
          <p:nvPr/>
        </p:nvSpPr>
        <p:spPr>
          <a:xfrm>
            <a:off x="793790" y="3284696"/>
            <a:ext cx="8284131"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This comprehensive Power BI implementation transforms Blinkit's marketing and customer data into actionable insights. By visualizing key metrics and trends, we enable stakeholders to make informed decisions that drive revenue growth and improve customer satisfaction.</a:t>
            </a:r>
            <a:endParaRPr lang="en-US" sz="1750" dirty="0"/>
          </a:p>
        </p:txBody>
      </p:sp>
      <p:sp>
        <p:nvSpPr>
          <p:cNvPr id="4" name="Text 2"/>
          <p:cNvSpPr/>
          <p:nvPr/>
        </p:nvSpPr>
        <p:spPr>
          <a:xfrm>
            <a:off x="793790" y="4940379"/>
            <a:ext cx="8284131"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dashboard consolidates sales performance, customer behavior, marketing effectiveness, and product performance into an interactive, user-friendly interface.</a:t>
            </a:r>
            <a:endParaRPr lang="en-US" sz="1750" dirty="0"/>
          </a:p>
        </p:txBody>
      </p:sp>
      <p:pic>
        <p:nvPicPr>
          <p:cNvPr id="5" name="Image 0" descr="preencoded.png">    </p:cNvPr>
          <p:cNvPicPr>
            <a:picLocks noChangeAspect="1"/>
          </p:cNvPicPr>
          <p:nvPr/>
        </p:nvPicPr>
        <p:blipFill>
          <a:blip r:embed="rId1"/>
          <a:stretch>
            <a:fillRect/>
          </a:stretch>
        </p:blipFill>
        <p:spPr>
          <a:xfrm>
            <a:off x="9638943" y="2554367"/>
            <a:ext cx="4205168" cy="42051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4260" y="610314"/>
            <a:ext cx="5582007" cy="697706"/>
          </a:xfrm>
          <a:prstGeom prst="rect">
            <a:avLst/>
          </a:prstGeom>
          <a:noFill/>
          <a:ln/>
        </p:spPr>
        <p:txBody>
          <a:bodyPr wrap="none" lIns="0" tIns="0" rIns="0" bIns="0" rtlCol="0" anchor="t"/>
          <a:lstStyle/>
          <a:p>
            <a:pPr algn="l" indent="0" marL="0">
              <a:lnSpc>
                <a:spcPts val="5450"/>
              </a:lnSpc>
              <a:buNone/>
            </a:pPr>
            <a:r>
              <a:rPr lang="en-US" sz="4350" b="1" dirty="0">
                <a:solidFill>
                  <a:srgbClr val="000000"/>
                </a:solidFill>
                <a:latin typeface="Petrona Bold" pitchFamily="34" charset="0"/>
                <a:ea typeface="Petrona Bold" pitchFamily="34" charset="-122"/>
                <a:cs typeface="Petrona Bold" pitchFamily="34" charset="-120"/>
              </a:rPr>
              <a:t>Primary Objectives</a:t>
            </a:r>
            <a:endParaRPr lang="en-US" sz="4350" dirty="0"/>
          </a:p>
        </p:txBody>
      </p:sp>
      <p:sp>
        <p:nvSpPr>
          <p:cNvPr id="3" name="Text 1"/>
          <p:cNvSpPr/>
          <p:nvPr/>
        </p:nvSpPr>
        <p:spPr>
          <a:xfrm>
            <a:off x="744260" y="1706642"/>
            <a:ext cx="13141881" cy="329565"/>
          </a:xfrm>
          <a:prstGeom prst="rect">
            <a:avLst/>
          </a:prstGeom>
          <a:noFill/>
          <a:ln/>
        </p:spPr>
        <p:txBody>
          <a:bodyPr wrap="non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Five strategic goals to enhance Blinkit's operational efficiency and strategic decision-making capabilities</a:t>
            </a:r>
            <a:endParaRPr lang="en-US" sz="1650" dirty="0"/>
          </a:p>
        </p:txBody>
      </p:sp>
      <p:sp>
        <p:nvSpPr>
          <p:cNvPr id="4" name="Shape 2"/>
          <p:cNvSpPr/>
          <p:nvPr/>
        </p:nvSpPr>
        <p:spPr>
          <a:xfrm>
            <a:off x="744260" y="2260402"/>
            <a:ext cx="4247674" cy="2754154"/>
          </a:xfrm>
          <a:prstGeom prst="roundRect">
            <a:avLst>
              <a:gd name="adj" fmla="val 3243"/>
            </a:avLst>
          </a:prstGeom>
          <a:solidFill>
            <a:srgbClr val="CCEEFF"/>
          </a:solidFill>
          <a:ln w="7620">
            <a:solidFill>
              <a:srgbClr val="B2D4E5"/>
            </a:solidFill>
            <a:prstDash val="solid"/>
          </a:ln>
        </p:spPr>
      </p:sp>
      <p:sp>
        <p:nvSpPr>
          <p:cNvPr id="5" name="Shape 3"/>
          <p:cNvSpPr/>
          <p:nvPr/>
        </p:nvSpPr>
        <p:spPr>
          <a:xfrm>
            <a:off x="964525" y="2480667"/>
            <a:ext cx="637937" cy="637937"/>
          </a:xfrm>
          <a:prstGeom prst="roundRect">
            <a:avLst>
              <a:gd name="adj" fmla="val 14332270"/>
            </a:avLst>
          </a:prstGeom>
          <a:solidFill>
            <a:srgbClr val="007E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9904" y="2656046"/>
            <a:ext cx="287060" cy="287060"/>
          </a:xfrm>
          <a:prstGeom prst="rect">
            <a:avLst/>
          </a:prstGeom>
        </p:spPr>
      </p:pic>
      <p:sp>
        <p:nvSpPr>
          <p:cNvPr id="7" name="Text 4"/>
          <p:cNvSpPr/>
          <p:nvPr/>
        </p:nvSpPr>
        <p:spPr>
          <a:xfrm>
            <a:off x="964525" y="3317915"/>
            <a:ext cx="3520321" cy="348853"/>
          </a:xfrm>
          <a:prstGeom prst="rect">
            <a:avLst/>
          </a:prstGeom>
          <a:noFill/>
          <a:ln/>
        </p:spPr>
        <p:txBody>
          <a:bodyPr wrap="non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Sales Performance Analysis</a:t>
            </a:r>
            <a:endParaRPr lang="en-US" sz="2150" dirty="0"/>
          </a:p>
        </p:txBody>
      </p:sp>
      <p:sp>
        <p:nvSpPr>
          <p:cNvPr id="8" name="Text 5"/>
          <p:cNvSpPr/>
          <p:nvPr/>
        </p:nvSpPr>
        <p:spPr>
          <a:xfrm>
            <a:off x="964525" y="3786307"/>
            <a:ext cx="3807143" cy="659130"/>
          </a:xfrm>
          <a:prstGeom prst="rect">
            <a:avLst/>
          </a:prstGeom>
          <a:noFill/>
          <a:ln/>
        </p:spPr>
        <p:txBody>
          <a:bodyPr wrap="squar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Analyze revenue trends and identify patterns in sales figures over time</a:t>
            </a:r>
            <a:endParaRPr lang="en-US" sz="1650" dirty="0"/>
          </a:p>
        </p:txBody>
      </p:sp>
      <p:sp>
        <p:nvSpPr>
          <p:cNvPr id="9" name="Shape 6"/>
          <p:cNvSpPr/>
          <p:nvPr/>
        </p:nvSpPr>
        <p:spPr>
          <a:xfrm>
            <a:off x="5191244" y="2260402"/>
            <a:ext cx="4247793" cy="2754154"/>
          </a:xfrm>
          <a:prstGeom prst="roundRect">
            <a:avLst>
              <a:gd name="adj" fmla="val 3243"/>
            </a:avLst>
          </a:prstGeom>
          <a:solidFill>
            <a:srgbClr val="CCEEFF"/>
          </a:solidFill>
          <a:ln w="7620">
            <a:solidFill>
              <a:srgbClr val="B2D4E5"/>
            </a:solidFill>
            <a:prstDash val="solid"/>
          </a:ln>
        </p:spPr>
      </p:sp>
      <p:sp>
        <p:nvSpPr>
          <p:cNvPr id="10" name="Shape 7"/>
          <p:cNvSpPr/>
          <p:nvPr/>
        </p:nvSpPr>
        <p:spPr>
          <a:xfrm>
            <a:off x="5411510" y="2480667"/>
            <a:ext cx="637937" cy="637937"/>
          </a:xfrm>
          <a:prstGeom prst="roundRect">
            <a:avLst>
              <a:gd name="adj" fmla="val 14332270"/>
            </a:avLst>
          </a:prstGeom>
          <a:solidFill>
            <a:srgbClr val="007EBD"/>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86889" y="2656046"/>
            <a:ext cx="287060" cy="287060"/>
          </a:xfrm>
          <a:prstGeom prst="rect">
            <a:avLst/>
          </a:prstGeom>
        </p:spPr>
      </p:pic>
      <p:sp>
        <p:nvSpPr>
          <p:cNvPr id="12" name="Text 8"/>
          <p:cNvSpPr/>
          <p:nvPr/>
        </p:nvSpPr>
        <p:spPr>
          <a:xfrm>
            <a:off x="5411510" y="3317915"/>
            <a:ext cx="3559373" cy="348853"/>
          </a:xfrm>
          <a:prstGeom prst="rect">
            <a:avLst/>
          </a:prstGeom>
          <a:noFill/>
          <a:ln/>
        </p:spPr>
        <p:txBody>
          <a:bodyPr wrap="non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Customer Behavior Insights</a:t>
            </a:r>
            <a:endParaRPr lang="en-US" sz="2150" dirty="0"/>
          </a:p>
        </p:txBody>
      </p:sp>
      <p:sp>
        <p:nvSpPr>
          <p:cNvPr id="13" name="Text 9"/>
          <p:cNvSpPr/>
          <p:nvPr/>
        </p:nvSpPr>
        <p:spPr>
          <a:xfrm>
            <a:off x="5411510" y="3786307"/>
            <a:ext cx="3807262" cy="659130"/>
          </a:xfrm>
          <a:prstGeom prst="rect">
            <a:avLst/>
          </a:prstGeom>
          <a:noFill/>
          <a:ln/>
        </p:spPr>
        <p:txBody>
          <a:bodyPr wrap="squar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Understand satisfaction levels and pinpoint improvement areas</a:t>
            </a:r>
            <a:endParaRPr lang="en-US" sz="1650" dirty="0"/>
          </a:p>
        </p:txBody>
      </p:sp>
      <p:sp>
        <p:nvSpPr>
          <p:cNvPr id="14" name="Shape 10"/>
          <p:cNvSpPr/>
          <p:nvPr/>
        </p:nvSpPr>
        <p:spPr>
          <a:xfrm>
            <a:off x="9638348" y="2260402"/>
            <a:ext cx="4247793" cy="2754154"/>
          </a:xfrm>
          <a:prstGeom prst="roundRect">
            <a:avLst>
              <a:gd name="adj" fmla="val 3243"/>
            </a:avLst>
          </a:prstGeom>
          <a:solidFill>
            <a:srgbClr val="CCEEFF"/>
          </a:solidFill>
          <a:ln w="7620">
            <a:solidFill>
              <a:srgbClr val="B2D4E5"/>
            </a:solidFill>
            <a:prstDash val="solid"/>
          </a:ln>
        </p:spPr>
      </p:sp>
      <p:sp>
        <p:nvSpPr>
          <p:cNvPr id="15" name="Shape 11"/>
          <p:cNvSpPr/>
          <p:nvPr/>
        </p:nvSpPr>
        <p:spPr>
          <a:xfrm>
            <a:off x="9858613" y="2480667"/>
            <a:ext cx="637937" cy="637937"/>
          </a:xfrm>
          <a:prstGeom prst="roundRect">
            <a:avLst>
              <a:gd name="adj" fmla="val 14332270"/>
            </a:avLst>
          </a:prstGeom>
          <a:solidFill>
            <a:srgbClr val="007EBD"/>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33992" y="2656046"/>
            <a:ext cx="287060" cy="287060"/>
          </a:xfrm>
          <a:prstGeom prst="rect">
            <a:avLst/>
          </a:prstGeom>
        </p:spPr>
      </p:pic>
      <p:sp>
        <p:nvSpPr>
          <p:cNvPr id="17" name="Text 12"/>
          <p:cNvSpPr/>
          <p:nvPr/>
        </p:nvSpPr>
        <p:spPr>
          <a:xfrm>
            <a:off x="9858613" y="3317915"/>
            <a:ext cx="3807262" cy="697706"/>
          </a:xfrm>
          <a:prstGeom prst="rect">
            <a:avLst/>
          </a:prstGeom>
          <a:noFill/>
          <a:ln/>
        </p:spPr>
        <p:txBody>
          <a:bodyPr wrap="squar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Marketing Strategy Evaluation</a:t>
            </a:r>
            <a:endParaRPr lang="en-US" sz="2150" dirty="0"/>
          </a:p>
        </p:txBody>
      </p:sp>
      <p:sp>
        <p:nvSpPr>
          <p:cNvPr id="18" name="Text 13"/>
          <p:cNvSpPr/>
          <p:nvPr/>
        </p:nvSpPr>
        <p:spPr>
          <a:xfrm>
            <a:off x="9858613" y="4135160"/>
            <a:ext cx="3807262" cy="659130"/>
          </a:xfrm>
          <a:prstGeom prst="rect">
            <a:avLst/>
          </a:prstGeom>
          <a:noFill/>
          <a:ln/>
        </p:spPr>
        <p:txBody>
          <a:bodyPr wrap="squar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Assess campaign effectiveness and optimize future initiatives</a:t>
            </a:r>
            <a:endParaRPr lang="en-US" sz="1650" dirty="0"/>
          </a:p>
        </p:txBody>
      </p:sp>
      <p:sp>
        <p:nvSpPr>
          <p:cNvPr id="19" name="Shape 14"/>
          <p:cNvSpPr/>
          <p:nvPr/>
        </p:nvSpPr>
        <p:spPr>
          <a:xfrm>
            <a:off x="744260" y="5213866"/>
            <a:ext cx="6471285" cy="2405301"/>
          </a:xfrm>
          <a:prstGeom prst="roundRect">
            <a:avLst>
              <a:gd name="adj" fmla="val 3713"/>
            </a:avLst>
          </a:prstGeom>
          <a:solidFill>
            <a:srgbClr val="CCEEFF"/>
          </a:solidFill>
          <a:ln w="7620">
            <a:solidFill>
              <a:srgbClr val="B2D4E5"/>
            </a:solidFill>
            <a:prstDash val="solid"/>
          </a:ln>
        </p:spPr>
      </p:sp>
      <p:sp>
        <p:nvSpPr>
          <p:cNvPr id="20" name="Shape 15"/>
          <p:cNvSpPr/>
          <p:nvPr/>
        </p:nvSpPr>
        <p:spPr>
          <a:xfrm>
            <a:off x="964525" y="5434132"/>
            <a:ext cx="637937" cy="637937"/>
          </a:xfrm>
          <a:prstGeom prst="roundRect">
            <a:avLst>
              <a:gd name="adj" fmla="val 14332270"/>
            </a:avLst>
          </a:prstGeom>
          <a:solidFill>
            <a:srgbClr val="007EBD"/>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9904" y="5609511"/>
            <a:ext cx="287060" cy="287060"/>
          </a:xfrm>
          <a:prstGeom prst="rect">
            <a:avLst/>
          </a:prstGeom>
        </p:spPr>
      </p:pic>
      <p:sp>
        <p:nvSpPr>
          <p:cNvPr id="22" name="Text 16"/>
          <p:cNvSpPr/>
          <p:nvPr/>
        </p:nvSpPr>
        <p:spPr>
          <a:xfrm>
            <a:off x="964525" y="6271379"/>
            <a:ext cx="3498533" cy="348853"/>
          </a:xfrm>
          <a:prstGeom prst="rect">
            <a:avLst/>
          </a:prstGeom>
          <a:noFill/>
          <a:ln/>
        </p:spPr>
        <p:txBody>
          <a:bodyPr wrap="non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Performance Identification</a:t>
            </a:r>
            <a:endParaRPr lang="en-US" sz="2150" dirty="0"/>
          </a:p>
        </p:txBody>
      </p:sp>
      <p:sp>
        <p:nvSpPr>
          <p:cNvPr id="23" name="Text 17"/>
          <p:cNvSpPr/>
          <p:nvPr/>
        </p:nvSpPr>
        <p:spPr>
          <a:xfrm>
            <a:off x="964525" y="6739771"/>
            <a:ext cx="6030754" cy="659130"/>
          </a:xfrm>
          <a:prstGeom prst="rect">
            <a:avLst/>
          </a:prstGeom>
          <a:noFill/>
          <a:ln/>
        </p:spPr>
        <p:txBody>
          <a:bodyPr wrap="squar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Identify top-performing products and outlets for resource allocation</a:t>
            </a:r>
            <a:endParaRPr lang="en-US" sz="1650" dirty="0"/>
          </a:p>
        </p:txBody>
      </p:sp>
      <p:sp>
        <p:nvSpPr>
          <p:cNvPr id="24" name="Shape 18"/>
          <p:cNvSpPr/>
          <p:nvPr/>
        </p:nvSpPr>
        <p:spPr>
          <a:xfrm>
            <a:off x="7414855" y="5213866"/>
            <a:ext cx="6471285" cy="2405301"/>
          </a:xfrm>
          <a:prstGeom prst="roundRect">
            <a:avLst>
              <a:gd name="adj" fmla="val 3713"/>
            </a:avLst>
          </a:prstGeom>
          <a:solidFill>
            <a:srgbClr val="CCEEFF"/>
          </a:solidFill>
          <a:ln w="7620">
            <a:solidFill>
              <a:srgbClr val="B2D4E5"/>
            </a:solidFill>
            <a:prstDash val="solid"/>
          </a:ln>
        </p:spPr>
      </p:sp>
      <p:sp>
        <p:nvSpPr>
          <p:cNvPr id="25" name="Shape 19"/>
          <p:cNvSpPr/>
          <p:nvPr/>
        </p:nvSpPr>
        <p:spPr>
          <a:xfrm>
            <a:off x="7635121" y="5434132"/>
            <a:ext cx="637937" cy="637937"/>
          </a:xfrm>
          <a:prstGeom prst="roundRect">
            <a:avLst>
              <a:gd name="adj" fmla="val 14332270"/>
            </a:avLst>
          </a:prstGeom>
          <a:solidFill>
            <a:srgbClr val="007EBD"/>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10500" y="5609511"/>
            <a:ext cx="287060" cy="287060"/>
          </a:xfrm>
          <a:prstGeom prst="rect">
            <a:avLst/>
          </a:prstGeom>
        </p:spPr>
      </p:pic>
      <p:sp>
        <p:nvSpPr>
          <p:cNvPr id="27" name="Text 20"/>
          <p:cNvSpPr/>
          <p:nvPr/>
        </p:nvSpPr>
        <p:spPr>
          <a:xfrm>
            <a:off x="7635121" y="6271379"/>
            <a:ext cx="2849404" cy="348853"/>
          </a:xfrm>
          <a:prstGeom prst="rect">
            <a:avLst/>
          </a:prstGeom>
          <a:noFill/>
          <a:ln/>
        </p:spPr>
        <p:txBody>
          <a:bodyPr wrap="non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Interactive Dashboard</a:t>
            </a:r>
            <a:endParaRPr lang="en-US" sz="2150" dirty="0"/>
          </a:p>
        </p:txBody>
      </p:sp>
      <p:sp>
        <p:nvSpPr>
          <p:cNvPr id="28" name="Text 21"/>
          <p:cNvSpPr/>
          <p:nvPr/>
        </p:nvSpPr>
        <p:spPr>
          <a:xfrm>
            <a:off x="7635121" y="6739771"/>
            <a:ext cx="6030754" cy="329565"/>
          </a:xfrm>
          <a:prstGeom prst="rect">
            <a:avLst/>
          </a:prstGeom>
          <a:noFill/>
          <a:ln/>
        </p:spPr>
        <p:txBody>
          <a:bodyPr wrap="non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Build user-friendly interface for real-time data insights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74871"/>
            <a:ext cx="7512248" cy="744260"/>
          </a:xfrm>
          <a:prstGeom prst="rect">
            <a:avLst/>
          </a:prstGeom>
          <a:noFill/>
          <a:ln/>
        </p:spPr>
        <p:txBody>
          <a:bodyPr wrap="none" lIns="0" tIns="0" rIns="0" bIns="0" rtlCol="0" anchor="t"/>
          <a:lstStyle/>
          <a:p>
            <a:pPr algn="l" indent="0" marL="0">
              <a:lnSpc>
                <a:spcPts val="5850"/>
              </a:lnSpc>
              <a:buNone/>
            </a:pPr>
            <a:r>
              <a:rPr lang="en-US" sz="4650" b="1" dirty="0">
                <a:solidFill>
                  <a:srgbClr val="000000"/>
                </a:solidFill>
                <a:latin typeface="Petrona Bold" pitchFamily="34" charset="0"/>
                <a:ea typeface="Petrona Bold" pitchFamily="34" charset="-122"/>
                <a:cs typeface="Petrona Bold" pitchFamily="34" charset="-120"/>
              </a:rPr>
              <a:t>Sales Performance Analysis</a:t>
            </a:r>
            <a:endParaRPr lang="en-US" sz="4650" dirty="0"/>
          </a:p>
        </p:txBody>
      </p:sp>
      <p:sp>
        <p:nvSpPr>
          <p:cNvPr id="3" name="Text 1"/>
          <p:cNvSpPr/>
          <p:nvPr/>
        </p:nvSpPr>
        <p:spPr>
          <a:xfrm>
            <a:off x="793790" y="2537579"/>
            <a:ext cx="4651415" cy="372070"/>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Petrona Bold" pitchFamily="34" charset="0"/>
                <a:ea typeface="Petrona Bold" pitchFamily="34" charset="-122"/>
                <a:cs typeface="Petrona Bold" pitchFamily="34" charset="-120"/>
              </a:rPr>
              <a:t>Comprehensive Revenue Tracking</a:t>
            </a:r>
            <a:endParaRPr lang="en-US" sz="2300" dirty="0"/>
          </a:p>
        </p:txBody>
      </p:sp>
      <p:sp>
        <p:nvSpPr>
          <p:cNvPr id="4" name="Text 2"/>
          <p:cNvSpPr/>
          <p:nvPr/>
        </p:nvSpPr>
        <p:spPr>
          <a:xfrm>
            <a:off x="793790" y="3136463"/>
            <a:ext cx="7604284"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We meticulously analyze sales figures over time to identify trends and patterns that drive forecasting accuracy. This includes calculating total sales, average sales per transaction, and number of items sold across all outlets.</a:t>
            </a:r>
            <a:endParaRPr lang="en-US" sz="1750" dirty="0"/>
          </a:p>
        </p:txBody>
      </p:sp>
      <p:sp>
        <p:nvSpPr>
          <p:cNvPr id="5" name="Text 3"/>
          <p:cNvSpPr/>
          <p:nvPr/>
        </p:nvSpPr>
        <p:spPr>
          <a:xfrm>
            <a:off x="793790" y="4792147"/>
            <a:ext cx="7604284"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Calculate total sales across all time periods</a:t>
            </a:r>
            <a:endParaRPr lang="en-US" sz="1750" dirty="0"/>
          </a:p>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Determine average sales per transaction</a:t>
            </a:r>
            <a:endParaRPr lang="en-US" sz="1750" dirty="0"/>
          </a:p>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Track number of items sold by category</a:t>
            </a:r>
            <a:endParaRPr lang="en-US" sz="1750" dirty="0"/>
          </a:p>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Forecast future revenues using historical patterns</a:t>
            </a:r>
            <a:endParaRPr lang="en-US" sz="1750" dirty="0"/>
          </a:p>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Optimize inventory management based on demand trends</a:t>
            </a:r>
            <a:endParaRPr lang="en-US" sz="1750" dirty="0"/>
          </a:p>
        </p:txBody>
      </p:sp>
      <p:pic>
        <p:nvPicPr>
          <p:cNvPr id="6" name="Image 0" descr="preencoded.png">    </p:cNvPr>
          <p:cNvPicPr>
            <a:picLocks noChangeAspect="1"/>
          </p:cNvPicPr>
          <p:nvPr/>
        </p:nvPicPr>
        <p:blipFill>
          <a:blip r:embed="rId1"/>
          <a:stretch>
            <a:fillRect/>
          </a:stretch>
        </p:blipFill>
        <p:spPr>
          <a:xfrm>
            <a:off x="8959096" y="2214443"/>
            <a:ext cx="4885015" cy="48850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CCEEFF"/>
          </a:solidFill>
          <a:ln/>
        </p:spPr>
      </p:sp>
      <p:pic>
        <p:nvPicPr>
          <p:cNvPr id="3" name="Image 0" descr="preencoded.png">    </p:cNvPr>
          <p:cNvPicPr>
            <a:picLocks noChangeAspect="1"/>
          </p:cNvPicPr>
          <p:nvPr/>
        </p:nvPicPr>
        <p:blipFill>
          <a:blip r:embed="rId1"/>
          <a:stretch>
            <a:fillRect/>
          </a:stretch>
        </p:blipFill>
        <p:spPr>
          <a:xfrm>
            <a:off x="9246751" y="594241"/>
            <a:ext cx="5280779" cy="7041118"/>
          </a:xfrm>
          <a:prstGeom prst="rect">
            <a:avLst/>
          </a:prstGeom>
        </p:spPr>
      </p:pic>
      <p:sp>
        <p:nvSpPr>
          <p:cNvPr id="4" name="Text 1"/>
          <p:cNvSpPr/>
          <p:nvPr/>
        </p:nvSpPr>
        <p:spPr>
          <a:xfrm>
            <a:off x="719376" y="599123"/>
            <a:ext cx="7705249" cy="1348978"/>
          </a:xfrm>
          <a:prstGeom prst="rect">
            <a:avLst/>
          </a:prstGeom>
          <a:noFill/>
          <a:ln/>
        </p:spPr>
        <p:txBody>
          <a:bodyPr wrap="square" lIns="0" tIns="0" rIns="0" bIns="0" rtlCol="0" anchor="t"/>
          <a:lstStyle/>
          <a:p>
            <a:pPr algn="l" indent="0" marL="0">
              <a:lnSpc>
                <a:spcPts val="5300"/>
              </a:lnSpc>
              <a:buNone/>
            </a:pPr>
            <a:r>
              <a:rPr lang="en-US" sz="4200" b="1" dirty="0">
                <a:solidFill>
                  <a:srgbClr val="000000"/>
                </a:solidFill>
                <a:latin typeface="Petrona Bold" pitchFamily="34" charset="0"/>
                <a:ea typeface="Petrona Bold" pitchFamily="34" charset="-122"/>
                <a:cs typeface="Petrona Bold" pitchFamily="34" charset="-120"/>
              </a:rPr>
              <a:t>Customer Behavior and Satisfaction</a:t>
            </a:r>
            <a:endParaRPr lang="en-US" sz="4200" dirty="0"/>
          </a:p>
        </p:txBody>
      </p:sp>
      <p:sp>
        <p:nvSpPr>
          <p:cNvPr id="5" name="Shape 2"/>
          <p:cNvSpPr/>
          <p:nvPr/>
        </p:nvSpPr>
        <p:spPr>
          <a:xfrm>
            <a:off x="719376" y="2535674"/>
            <a:ext cx="3759518" cy="2782253"/>
          </a:xfrm>
          <a:prstGeom prst="roundRect">
            <a:avLst>
              <a:gd name="adj" fmla="val 3944"/>
            </a:avLst>
          </a:prstGeom>
          <a:solidFill>
            <a:srgbClr val="FFFFFF">
              <a:alpha val="95000"/>
            </a:srgbClr>
          </a:solidFill>
          <a:ln/>
        </p:spPr>
      </p:sp>
      <p:sp>
        <p:nvSpPr>
          <p:cNvPr id="6" name="Shape 3"/>
          <p:cNvSpPr/>
          <p:nvPr/>
        </p:nvSpPr>
        <p:spPr>
          <a:xfrm>
            <a:off x="719376" y="2512814"/>
            <a:ext cx="3759518" cy="91440"/>
          </a:xfrm>
          <a:prstGeom prst="roundRect">
            <a:avLst>
              <a:gd name="adj" fmla="val 94419"/>
            </a:avLst>
          </a:prstGeom>
          <a:solidFill>
            <a:srgbClr val="007EBD"/>
          </a:solidFill>
          <a:ln/>
        </p:spPr>
      </p:sp>
      <p:sp>
        <p:nvSpPr>
          <p:cNvPr id="7" name="Shape 4"/>
          <p:cNvSpPr/>
          <p:nvPr/>
        </p:nvSpPr>
        <p:spPr>
          <a:xfrm>
            <a:off x="2290822" y="2227421"/>
            <a:ext cx="616625" cy="616625"/>
          </a:xfrm>
          <a:prstGeom prst="roundRect">
            <a:avLst>
              <a:gd name="adj" fmla="val 148291"/>
            </a:avLst>
          </a:prstGeom>
          <a:solidFill>
            <a:srgbClr val="007EBD"/>
          </a:solidFill>
          <a:ln/>
        </p:spPr>
      </p:sp>
      <p:sp>
        <p:nvSpPr>
          <p:cNvPr id="8" name="Text 5"/>
          <p:cNvSpPr/>
          <p:nvPr/>
        </p:nvSpPr>
        <p:spPr>
          <a:xfrm>
            <a:off x="2475845" y="2381607"/>
            <a:ext cx="246578" cy="308253"/>
          </a:xfrm>
          <a:prstGeom prst="rect">
            <a:avLst/>
          </a:prstGeom>
          <a:noFill/>
          <a:ln/>
        </p:spPr>
        <p:txBody>
          <a:bodyPr wrap="none" lIns="0" tIns="0" rIns="0" bIns="0" rtlCol="0" anchor="t"/>
          <a:lstStyle/>
          <a:p>
            <a:pPr algn="l" indent="0" marL="0">
              <a:lnSpc>
                <a:spcPts val="2950"/>
              </a:lnSpc>
              <a:buNone/>
            </a:pPr>
            <a:r>
              <a:rPr lang="en-US" sz="1900" b="1" dirty="0">
                <a:solidFill>
                  <a:srgbClr val="FFFFFF"/>
                </a:solidFill>
                <a:latin typeface="Petrona Bold" pitchFamily="34" charset="0"/>
                <a:ea typeface="Petrona Bold" pitchFamily="34" charset="-122"/>
                <a:cs typeface="Petrona Bold" pitchFamily="34" charset="-120"/>
              </a:rPr>
              <a:t>1</a:t>
            </a:r>
            <a:endParaRPr lang="en-US" sz="1900" dirty="0"/>
          </a:p>
        </p:txBody>
      </p:sp>
      <p:sp>
        <p:nvSpPr>
          <p:cNvPr id="9" name="Text 6"/>
          <p:cNvSpPr/>
          <p:nvPr/>
        </p:nvSpPr>
        <p:spPr>
          <a:xfrm>
            <a:off x="947737" y="3049548"/>
            <a:ext cx="3302794" cy="674370"/>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Examine Ratings and Feedback</a:t>
            </a:r>
            <a:endParaRPr lang="en-US" sz="2100" dirty="0"/>
          </a:p>
        </p:txBody>
      </p:sp>
      <p:sp>
        <p:nvSpPr>
          <p:cNvPr id="10" name="Text 7"/>
          <p:cNvSpPr/>
          <p:nvPr/>
        </p:nvSpPr>
        <p:spPr>
          <a:xfrm>
            <a:off x="947737" y="3835598"/>
            <a:ext cx="3302794" cy="940475"/>
          </a:xfrm>
          <a:prstGeom prst="rect">
            <a:avLst/>
          </a:prstGeom>
          <a:noFill/>
          <a:ln/>
        </p:spPr>
        <p:txBody>
          <a:bodyPr wrap="square" lIns="0" tIns="0" rIns="0" bIns="0" rtlCol="0" anchor="t"/>
          <a:lstStyle/>
          <a:p>
            <a:pPr algn="l" indent="0" marL="0">
              <a:lnSpc>
                <a:spcPts val="2450"/>
              </a:lnSpc>
              <a:buNone/>
            </a:pPr>
            <a:r>
              <a:rPr lang="en-US" sz="1600" dirty="0">
                <a:solidFill>
                  <a:srgbClr val="272525"/>
                </a:solidFill>
                <a:latin typeface="Inter" pitchFamily="34" charset="0"/>
                <a:ea typeface="Inter" pitchFamily="34" charset="-122"/>
                <a:cs typeface="Inter" pitchFamily="34" charset="-120"/>
              </a:rPr>
              <a:t>Collect and analyze customer ratings across all touchpoints to gauge overall satisfaction levels</a:t>
            </a:r>
            <a:endParaRPr lang="en-US" sz="1600" dirty="0"/>
          </a:p>
        </p:txBody>
      </p:sp>
      <p:sp>
        <p:nvSpPr>
          <p:cNvPr id="11" name="Shape 8"/>
          <p:cNvSpPr/>
          <p:nvPr/>
        </p:nvSpPr>
        <p:spPr>
          <a:xfrm>
            <a:off x="4665107" y="2535674"/>
            <a:ext cx="3759518" cy="2782253"/>
          </a:xfrm>
          <a:prstGeom prst="roundRect">
            <a:avLst>
              <a:gd name="adj" fmla="val 3944"/>
            </a:avLst>
          </a:prstGeom>
          <a:solidFill>
            <a:srgbClr val="FFFFFF">
              <a:alpha val="95000"/>
            </a:srgbClr>
          </a:solidFill>
          <a:ln/>
        </p:spPr>
      </p:sp>
      <p:sp>
        <p:nvSpPr>
          <p:cNvPr id="12" name="Shape 9"/>
          <p:cNvSpPr/>
          <p:nvPr/>
        </p:nvSpPr>
        <p:spPr>
          <a:xfrm>
            <a:off x="4665107" y="2512814"/>
            <a:ext cx="3759518" cy="91440"/>
          </a:xfrm>
          <a:prstGeom prst="roundRect">
            <a:avLst>
              <a:gd name="adj" fmla="val 94419"/>
            </a:avLst>
          </a:prstGeom>
          <a:solidFill>
            <a:srgbClr val="007EBD"/>
          </a:solidFill>
          <a:ln/>
        </p:spPr>
      </p:sp>
      <p:sp>
        <p:nvSpPr>
          <p:cNvPr id="13" name="Shape 10"/>
          <p:cNvSpPr/>
          <p:nvPr/>
        </p:nvSpPr>
        <p:spPr>
          <a:xfrm>
            <a:off x="6236553" y="2227421"/>
            <a:ext cx="616625" cy="616625"/>
          </a:xfrm>
          <a:prstGeom prst="roundRect">
            <a:avLst>
              <a:gd name="adj" fmla="val 148291"/>
            </a:avLst>
          </a:prstGeom>
          <a:solidFill>
            <a:srgbClr val="007EBD"/>
          </a:solidFill>
          <a:ln/>
        </p:spPr>
      </p:sp>
      <p:sp>
        <p:nvSpPr>
          <p:cNvPr id="14" name="Text 11"/>
          <p:cNvSpPr/>
          <p:nvPr/>
        </p:nvSpPr>
        <p:spPr>
          <a:xfrm>
            <a:off x="6421576" y="2381607"/>
            <a:ext cx="246578" cy="308253"/>
          </a:xfrm>
          <a:prstGeom prst="rect">
            <a:avLst/>
          </a:prstGeom>
          <a:noFill/>
          <a:ln/>
        </p:spPr>
        <p:txBody>
          <a:bodyPr wrap="none" lIns="0" tIns="0" rIns="0" bIns="0" rtlCol="0" anchor="t"/>
          <a:lstStyle/>
          <a:p>
            <a:pPr algn="l" indent="0" marL="0">
              <a:lnSpc>
                <a:spcPts val="2950"/>
              </a:lnSpc>
              <a:buNone/>
            </a:pPr>
            <a:r>
              <a:rPr lang="en-US" sz="1900" b="1" dirty="0">
                <a:solidFill>
                  <a:srgbClr val="FFFFFF"/>
                </a:solidFill>
                <a:latin typeface="Petrona Bold" pitchFamily="34" charset="0"/>
                <a:ea typeface="Petrona Bold" pitchFamily="34" charset="-122"/>
                <a:cs typeface="Petrona Bold" pitchFamily="34" charset="-120"/>
              </a:rPr>
              <a:t>2</a:t>
            </a:r>
            <a:endParaRPr lang="en-US" sz="1900" dirty="0"/>
          </a:p>
        </p:txBody>
      </p:sp>
      <p:sp>
        <p:nvSpPr>
          <p:cNvPr id="15" name="Text 12"/>
          <p:cNvSpPr/>
          <p:nvPr/>
        </p:nvSpPr>
        <p:spPr>
          <a:xfrm>
            <a:off x="4893469" y="3049548"/>
            <a:ext cx="3302794" cy="674370"/>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Identify Improvement Areas</a:t>
            </a:r>
            <a:endParaRPr lang="en-US" sz="2100" dirty="0"/>
          </a:p>
        </p:txBody>
      </p:sp>
      <p:sp>
        <p:nvSpPr>
          <p:cNvPr id="16" name="Text 13"/>
          <p:cNvSpPr/>
          <p:nvPr/>
        </p:nvSpPr>
        <p:spPr>
          <a:xfrm>
            <a:off x="4893469" y="3835598"/>
            <a:ext cx="3302794" cy="1253966"/>
          </a:xfrm>
          <a:prstGeom prst="rect">
            <a:avLst/>
          </a:prstGeom>
          <a:noFill/>
          <a:ln/>
        </p:spPr>
        <p:txBody>
          <a:bodyPr wrap="square" lIns="0" tIns="0" rIns="0" bIns="0" rtlCol="0" anchor="t"/>
          <a:lstStyle/>
          <a:p>
            <a:pPr algn="l" indent="0" marL="0">
              <a:lnSpc>
                <a:spcPts val="2450"/>
              </a:lnSpc>
              <a:buNone/>
            </a:pPr>
            <a:r>
              <a:rPr lang="en-US" sz="1600" dirty="0">
                <a:solidFill>
                  <a:srgbClr val="272525"/>
                </a:solidFill>
                <a:latin typeface="Inter" pitchFamily="34" charset="0"/>
                <a:ea typeface="Inter" pitchFamily="34" charset="-122"/>
                <a:cs typeface="Inter" pitchFamily="34" charset="-120"/>
              </a:rPr>
              <a:t>Pinpoint specific aspects of service or products that require enhancement based on feedback patterns</a:t>
            </a:r>
            <a:endParaRPr lang="en-US" sz="1600" dirty="0"/>
          </a:p>
        </p:txBody>
      </p:sp>
      <p:sp>
        <p:nvSpPr>
          <p:cNvPr id="17" name="Shape 14"/>
          <p:cNvSpPr/>
          <p:nvPr/>
        </p:nvSpPr>
        <p:spPr>
          <a:xfrm>
            <a:off x="719376" y="5812393"/>
            <a:ext cx="7705249" cy="1818084"/>
          </a:xfrm>
          <a:prstGeom prst="roundRect">
            <a:avLst>
              <a:gd name="adj" fmla="val 6035"/>
            </a:avLst>
          </a:prstGeom>
          <a:solidFill>
            <a:srgbClr val="FFFFFF">
              <a:alpha val="95000"/>
            </a:srgbClr>
          </a:solidFill>
          <a:ln/>
        </p:spPr>
      </p:sp>
      <p:sp>
        <p:nvSpPr>
          <p:cNvPr id="18" name="Shape 15"/>
          <p:cNvSpPr/>
          <p:nvPr/>
        </p:nvSpPr>
        <p:spPr>
          <a:xfrm>
            <a:off x="719376" y="5789533"/>
            <a:ext cx="7705249" cy="91440"/>
          </a:xfrm>
          <a:prstGeom prst="roundRect">
            <a:avLst>
              <a:gd name="adj" fmla="val 94419"/>
            </a:avLst>
          </a:prstGeom>
          <a:solidFill>
            <a:srgbClr val="007EBD"/>
          </a:solidFill>
          <a:ln/>
        </p:spPr>
      </p:sp>
      <p:sp>
        <p:nvSpPr>
          <p:cNvPr id="19" name="Shape 16"/>
          <p:cNvSpPr/>
          <p:nvPr/>
        </p:nvSpPr>
        <p:spPr>
          <a:xfrm>
            <a:off x="4263688" y="5504140"/>
            <a:ext cx="616625" cy="616625"/>
          </a:xfrm>
          <a:prstGeom prst="roundRect">
            <a:avLst>
              <a:gd name="adj" fmla="val 148291"/>
            </a:avLst>
          </a:prstGeom>
          <a:solidFill>
            <a:srgbClr val="007EBD"/>
          </a:solidFill>
          <a:ln/>
        </p:spPr>
      </p:sp>
      <p:sp>
        <p:nvSpPr>
          <p:cNvPr id="20" name="Text 17"/>
          <p:cNvSpPr/>
          <p:nvPr/>
        </p:nvSpPr>
        <p:spPr>
          <a:xfrm>
            <a:off x="4448711" y="5658326"/>
            <a:ext cx="246578" cy="308253"/>
          </a:xfrm>
          <a:prstGeom prst="rect">
            <a:avLst/>
          </a:prstGeom>
          <a:noFill/>
          <a:ln/>
        </p:spPr>
        <p:txBody>
          <a:bodyPr wrap="none" lIns="0" tIns="0" rIns="0" bIns="0" rtlCol="0" anchor="t"/>
          <a:lstStyle/>
          <a:p>
            <a:pPr algn="l" indent="0" marL="0">
              <a:lnSpc>
                <a:spcPts val="2950"/>
              </a:lnSpc>
              <a:buNone/>
            </a:pPr>
            <a:r>
              <a:rPr lang="en-US" sz="1900" b="1" dirty="0">
                <a:solidFill>
                  <a:srgbClr val="FFFFFF"/>
                </a:solidFill>
                <a:latin typeface="Petrona Bold" pitchFamily="34" charset="0"/>
                <a:ea typeface="Petrona Bold" pitchFamily="34" charset="-122"/>
                <a:cs typeface="Petrona Bold" pitchFamily="34" charset="-120"/>
              </a:rPr>
              <a:t>3</a:t>
            </a:r>
            <a:endParaRPr lang="en-US" sz="1900" dirty="0"/>
          </a:p>
        </p:txBody>
      </p:sp>
      <p:sp>
        <p:nvSpPr>
          <p:cNvPr id="21" name="Text 18"/>
          <p:cNvSpPr/>
          <p:nvPr/>
        </p:nvSpPr>
        <p:spPr>
          <a:xfrm>
            <a:off x="947737" y="6326267"/>
            <a:ext cx="3442454" cy="337185"/>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Refine Marketing Strategies</a:t>
            </a:r>
            <a:endParaRPr lang="en-US" sz="2100" dirty="0"/>
          </a:p>
        </p:txBody>
      </p:sp>
      <p:sp>
        <p:nvSpPr>
          <p:cNvPr id="22" name="Text 19"/>
          <p:cNvSpPr/>
          <p:nvPr/>
        </p:nvSpPr>
        <p:spPr>
          <a:xfrm>
            <a:off x="947737" y="6775133"/>
            <a:ext cx="7248525" cy="626983"/>
          </a:xfrm>
          <a:prstGeom prst="rect">
            <a:avLst/>
          </a:prstGeom>
          <a:noFill/>
          <a:ln/>
        </p:spPr>
        <p:txBody>
          <a:bodyPr wrap="square" lIns="0" tIns="0" rIns="0" bIns="0" rtlCol="0" anchor="t"/>
          <a:lstStyle/>
          <a:p>
            <a:pPr algn="l" indent="0" marL="0">
              <a:lnSpc>
                <a:spcPts val="2450"/>
              </a:lnSpc>
              <a:buNone/>
            </a:pPr>
            <a:r>
              <a:rPr lang="en-US" sz="1600" dirty="0">
                <a:solidFill>
                  <a:srgbClr val="272525"/>
                </a:solidFill>
                <a:latin typeface="Inter" pitchFamily="34" charset="0"/>
                <a:ea typeface="Inter" pitchFamily="34" charset="-122"/>
                <a:cs typeface="Inter" pitchFamily="34" charset="-120"/>
              </a:rPr>
              <a:t>Use insights to tailor marketing messages and product offerings to customer preferences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14795"/>
            <a:ext cx="8293298" cy="744260"/>
          </a:xfrm>
          <a:prstGeom prst="rect">
            <a:avLst/>
          </a:prstGeom>
          <a:noFill/>
          <a:ln/>
        </p:spPr>
        <p:txBody>
          <a:bodyPr wrap="none" lIns="0" tIns="0" rIns="0" bIns="0" rtlCol="0" anchor="t"/>
          <a:lstStyle/>
          <a:p>
            <a:pPr algn="l" indent="0" marL="0">
              <a:lnSpc>
                <a:spcPts val="5850"/>
              </a:lnSpc>
              <a:buNone/>
            </a:pPr>
            <a:r>
              <a:rPr lang="en-US" sz="4650" b="1" dirty="0">
                <a:solidFill>
                  <a:srgbClr val="000000"/>
                </a:solidFill>
                <a:latin typeface="Petrona Bold" pitchFamily="34" charset="0"/>
                <a:ea typeface="Petrona Bold" pitchFamily="34" charset="-122"/>
                <a:cs typeface="Petrona Bold" pitchFamily="34" charset="-120"/>
              </a:rPr>
              <a:t>Marketing Strategy Evaluation</a:t>
            </a:r>
            <a:endParaRPr lang="en-US" sz="4650" dirty="0"/>
          </a:p>
        </p:txBody>
      </p:sp>
      <p:pic>
        <p:nvPicPr>
          <p:cNvPr id="3" name="Image 0" descr="preencoded.png">    </p:cNvPr>
          <p:cNvPicPr>
            <a:picLocks noChangeAspect="1"/>
          </p:cNvPicPr>
          <p:nvPr/>
        </p:nvPicPr>
        <p:blipFill>
          <a:blip r:embed="rId1"/>
          <a:stretch>
            <a:fillRect/>
          </a:stretch>
        </p:blipFill>
        <p:spPr>
          <a:xfrm>
            <a:off x="793790" y="2554367"/>
            <a:ext cx="4205168" cy="4205168"/>
          </a:xfrm>
          <a:prstGeom prst="rect">
            <a:avLst/>
          </a:prstGeom>
        </p:spPr>
      </p:pic>
      <p:sp>
        <p:nvSpPr>
          <p:cNvPr id="4" name="Text 1"/>
          <p:cNvSpPr/>
          <p:nvPr/>
        </p:nvSpPr>
        <p:spPr>
          <a:xfrm>
            <a:off x="5559981" y="2940129"/>
            <a:ext cx="4937046" cy="372070"/>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Petrona Bold" pitchFamily="34" charset="0"/>
                <a:ea typeface="Petrona Bold" pitchFamily="34" charset="-122"/>
                <a:cs typeface="Petrona Bold" pitchFamily="34" charset="-120"/>
              </a:rPr>
              <a:t>Campaign Effectiveness Assessment</a:t>
            </a:r>
            <a:endParaRPr lang="en-US" sz="2300" dirty="0"/>
          </a:p>
        </p:txBody>
      </p:sp>
      <p:sp>
        <p:nvSpPr>
          <p:cNvPr id="5" name="Text 2"/>
          <p:cNvSpPr/>
          <p:nvPr/>
        </p:nvSpPr>
        <p:spPr>
          <a:xfrm>
            <a:off x="5559981" y="3539014"/>
            <a:ext cx="8284131"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Using data from various outlets and products, we evaluate the performance of different marketing campaigns. This analysis enables optimization of future campaigns based on proven strategies and measurable ROI.</a:t>
            </a:r>
            <a:endParaRPr lang="en-US" sz="1750" dirty="0"/>
          </a:p>
        </p:txBody>
      </p:sp>
      <p:sp>
        <p:nvSpPr>
          <p:cNvPr id="6" name="Text 3"/>
          <p:cNvSpPr/>
          <p:nvPr/>
        </p:nvSpPr>
        <p:spPr>
          <a:xfrm>
            <a:off x="5559981" y="4831794"/>
            <a:ext cx="828413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Compare campaign performance across channels</a:t>
            </a:r>
            <a:endParaRPr lang="en-US" sz="1750" dirty="0"/>
          </a:p>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Measure conversion rates and engagement</a:t>
            </a:r>
            <a:endParaRPr lang="en-US" sz="1750" dirty="0"/>
          </a:p>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Calculate return on marketing investment</a:t>
            </a:r>
            <a:endParaRPr lang="en-US" sz="1750" dirty="0"/>
          </a:p>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Identify most effective messaging approaches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CCEEFF"/>
          </a:solidFill>
          <a:ln/>
        </p:spPr>
      </p:sp>
      <p:pic>
        <p:nvPicPr>
          <p:cNvPr id="3" name="Image 0" descr="preencoded.png">    </p:cNvPr>
          <p:cNvPicPr>
            <a:picLocks noChangeAspect="1"/>
          </p:cNvPicPr>
          <p:nvPr/>
        </p:nvPicPr>
        <p:blipFill>
          <a:blip r:embed="rId1"/>
          <a:stretch>
            <a:fillRect/>
          </a:stretch>
        </p:blipFill>
        <p:spPr>
          <a:xfrm>
            <a:off x="106323" y="599003"/>
            <a:ext cx="5273635" cy="7031593"/>
          </a:xfrm>
          <a:prstGeom prst="rect">
            <a:avLst/>
          </a:prstGeom>
        </p:spPr>
      </p:pic>
      <p:sp>
        <p:nvSpPr>
          <p:cNvPr id="4" name="Text 1"/>
          <p:cNvSpPr/>
          <p:nvPr/>
        </p:nvSpPr>
        <p:spPr>
          <a:xfrm>
            <a:off x="6230660" y="635198"/>
            <a:ext cx="7655481" cy="1395413"/>
          </a:xfrm>
          <a:prstGeom prst="rect">
            <a:avLst/>
          </a:prstGeom>
          <a:noFill/>
          <a:ln/>
        </p:spPr>
        <p:txBody>
          <a:bodyPr wrap="square" lIns="0" tIns="0" rIns="0" bIns="0" rtlCol="0" anchor="t"/>
          <a:lstStyle/>
          <a:p>
            <a:pPr algn="l" indent="0" marL="0">
              <a:lnSpc>
                <a:spcPts val="5450"/>
              </a:lnSpc>
              <a:buNone/>
            </a:pPr>
            <a:r>
              <a:rPr lang="en-US" sz="4350" b="1" dirty="0">
                <a:solidFill>
                  <a:srgbClr val="000000"/>
                </a:solidFill>
                <a:latin typeface="Petrona Bold" pitchFamily="34" charset="0"/>
                <a:ea typeface="Petrona Bold" pitchFamily="34" charset="-122"/>
                <a:cs typeface="Petrona Bold" pitchFamily="34" charset="-120"/>
              </a:rPr>
              <a:t>High-Performing Products and Outlets</a:t>
            </a:r>
            <a:endParaRPr lang="en-US" sz="4350" dirty="0"/>
          </a:p>
        </p:txBody>
      </p:sp>
      <p:sp>
        <p:nvSpPr>
          <p:cNvPr id="5" name="Text 2"/>
          <p:cNvSpPr/>
          <p:nvPr/>
        </p:nvSpPr>
        <p:spPr>
          <a:xfrm>
            <a:off x="6230660" y="2329577"/>
            <a:ext cx="7655481" cy="659130"/>
          </a:xfrm>
          <a:prstGeom prst="rect">
            <a:avLst/>
          </a:prstGeom>
          <a:noFill/>
          <a:ln/>
        </p:spPr>
        <p:txBody>
          <a:bodyPr wrap="squar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Identifying top performers enables strategic resource allocation and maximizes profitability</a:t>
            </a:r>
            <a:endParaRPr lang="en-US" sz="1650" dirty="0"/>
          </a:p>
        </p:txBody>
      </p:sp>
      <p:pic>
        <p:nvPicPr>
          <p:cNvPr id="6" name="Image 1" descr="preencoded.png">    </p:cNvPr>
          <p:cNvPicPr>
            <a:picLocks noChangeAspect="1"/>
          </p:cNvPicPr>
          <p:nvPr/>
        </p:nvPicPr>
        <p:blipFill>
          <a:blip r:embed="rId2"/>
          <a:stretch>
            <a:fillRect/>
          </a:stretch>
        </p:blipFill>
        <p:spPr>
          <a:xfrm>
            <a:off x="6230660" y="3212902"/>
            <a:ext cx="1063228" cy="1552813"/>
          </a:xfrm>
          <a:prstGeom prst="rect">
            <a:avLst/>
          </a:prstGeom>
        </p:spPr>
      </p:pic>
      <p:sp>
        <p:nvSpPr>
          <p:cNvPr id="7" name="Text 3"/>
          <p:cNvSpPr/>
          <p:nvPr/>
        </p:nvSpPr>
        <p:spPr>
          <a:xfrm>
            <a:off x="7493198" y="3425547"/>
            <a:ext cx="2790944" cy="348853"/>
          </a:xfrm>
          <a:prstGeom prst="rect">
            <a:avLst/>
          </a:prstGeom>
          <a:noFill/>
          <a:ln/>
        </p:spPr>
        <p:txBody>
          <a:bodyPr wrap="non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Product Performance</a:t>
            </a:r>
            <a:endParaRPr lang="en-US" sz="2150" dirty="0"/>
          </a:p>
        </p:txBody>
      </p:sp>
      <p:sp>
        <p:nvSpPr>
          <p:cNvPr id="8" name="Text 4"/>
          <p:cNvSpPr/>
          <p:nvPr/>
        </p:nvSpPr>
        <p:spPr>
          <a:xfrm>
            <a:off x="7493198" y="3893939"/>
            <a:ext cx="6392942" cy="659130"/>
          </a:xfrm>
          <a:prstGeom prst="rect">
            <a:avLst/>
          </a:prstGeom>
          <a:noFill/>
          <a:ln/>
        </p:spPr>
        <p:txBody>
          <a:bodyPr wrap="squar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Analyze sales by product category and SKU to identify best sellers</a:t>
            </a:r>
            <a:endParaRPr lang="en-US" sz="1650" dirty="0"/>
          </a:p>
        </p:txBody>
      </p:sp>
      <p:pic>
        <p:nvPicPr>
          <p:cNvPr id="9" name="Image 2" descr="preencoded.png">    </p:cNvPr>
          <p:cNvPicPr>
            <a:picLocks noChangeAspect="1"/>
          </p:cNvPicPr>
          <p:nvPr/>
        </p:nvPicPr>
        <p:blipFill>
          <a:blip r:embed="rId3"/>
          <a:stretch>
            <a:fillRect/>
          </a:stretch>
        </p:blipFill>
        <p:spPr>
          <a:xfrm>
            <a:off x="6230660" y="4765715"/>
            <a:ext cx="1063228" cy="1552813"/>
          </a:xfrm>
          <a:prstGeom prst="rect">
            <a:avLst/>
          </a:prstGeom>
        </p:spPr>
      </p:pic>
      <p:sp>
        <p:nvSpPr>
          <p:cNvPr id="10" name="Text 5"/>
          <p:cNvSpPr/>
          <p:nvPr/>
        </p:nvSpPr>
        <p:spPr>
          <a:xfrm>
            <a:off x="7493198" y="4978360"/>
            <a:ext cx="2790944" cy="348853"/>
          </a:xfrm>
          <a:prstGeom prst="rect">
            <a:avLst/>
          </a:prstGeom>
          <a:noFill/>
          <a:ln/>
        </p:spPr>
        <p:txBody>
          <a:bodyPr wrap="non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Outlet Analysis</a:t>
            </a:r>
            <a:endParaRPr lang="en-US" sz="2150" dirty="0"/>
          </a:p>
        </p:txBody>
      </p:sp>
      <p:sp>
        <p:nvSpPr>
          <p:cNvPr id="11" name="Text 6"/>
          <p:cNvSpPr/>
          <p:nvPr/>
        </p:nvSpPr>
        <p:spPr>
          <a:xfrm>
            <a:off x="7493198" y="5446752"/>
            <a:ext cx="6392942" cy="659130"/>
          </a:xfrm>
          <a:prstGeom prst="rect">
            <a:avLst/>
          </a:prstGeom>
          <a:noFill/>
          <a:ln/>
        </p:spPr>
        <p:txBody>
          <a:bodyPr wrap="squar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Evaluate location performance to identify high-performing stores</a:t>
            </a:r>
            <a:endParaRPr lang="en-US" sz="1650" dirty="0"/>
          </a:p>
        </p:txBody>
      </p:sp>
      <p:pic>
        <p:nvPicPr>
          <p:cNvPr id="12" name="Image 3" descr="preencoded.png">    </p:cNvPr>
          <p:cNvPicPr>
            <a:picLocks noChangeAspect="1"/>
          </p:cNvPicPr>
          <p:nvPr/>
        </p:nvPicPr>
        <p:blipFill>
          <a:blip r:embed="rId4"/>
          <a:stretch>
            <a:fillRect/>
          </a:stretch>
        </p:blipFill>
        <p:spPr>
          <a:xfrm>
            <a:off x="6230660" y="6318528"/>
            <a:ext cx="1063228" cy="1275874"/>
          </a:xfrm>
          <a:prstGeom prst="rect">
            <a:avLst/>
          </a:prstGeom>
        </p:spPr>
      </p:pic>
      <p:sp>
        <p:nvSpPr>
          <p:cNvPr id="13" name="Text 7"/>
          <p:cNvSpPr/>
          <p:nvPr/>
        </p:nvSpPr>
        <p:spPr>
          <a:xfrm>
            <a:off x="7493198" y="6531173"/>
            <a:ext cx="2849166" cy="348853"/>
          </a:xfrm>
          <a:prstGeom prst="rect">
            <a:avLst/>
          </a:prstGeom>
          <a:noFill/>
          <a:ln/>
        </p:spPr>
        <p:txBody>
          <a:bodyPr wrap="none" lIns="0" tIns="0" rIns="0" bIns="0" rtlCol="0" anchor="t"/>
          <a:lstStyle/>
          <a:p>
            <a:pPr algn="l" indent="0" marL="0">
              <a:lnSpc>
                <a:spcPts val="2700"/>
              </a:lnSpc>
              <a:buNone/>
            </a:pPr>
            <a:r>
              <a:rPr lang="en-US" sz="2150" b="1" dirty="0">
                <a:solidFill>
                  <a:srgbClr val="272525"/>
                </a:solidFill>
                <a:latin typeface="Petrona Bold" pitchFamily="34" charset="0"/>
                <a:ea typeface="Petrona Bold" pitchFamily="34" charset="-122"/>
                <a:cs typeface="Petrona Bold" pitchFamily="34" charset="-120"/>
              </a:rPr>
              <a:t>Resource Reallocation</a:t>
            </a:r>
            <a:endParaRPr lang="en-US" sz="2150" dirty="0"/>
          </a:p>
        </p:txBody>
      </p:sp>
      <p:sp>
        <p:nvSpPr>
          <p:cNvPr id="14" name="Text 8"/>
          <p:cNvSpPr/>
          <p:nvPr/>
        </p:nvSpPr>
        <p:spPr>
          <a:xfrm>
            <a:off x="7493198" y="6999565"/>
            <a:ext cx="6392942" cy="329565"/>
          </a:xfrm>
          <a:prstGeom prst="rect">
            <a:avLst/>
          </a:prstGeom>
          <a:noFill/>
          <a:ln/>
        </p:spPr>
        <p:txBody>
          <a:bodyPr wrap="none" lIns="0" tIns="0" rIns="0" bIns="0" rtlCol="0" anchor="t"/>
          <a:lstStyle/>
          <a:p>
            <a:pPr algn="l" indent="0" marL="0">
              <a:lnSpc>
                <a:spcPts val="2550"/>
              </a:lnSpc>
              <a:buNone/>
            </a:pPr>
            <a:r>
              <a:rPr lang="en-US" sz="1650" dirty="0">
                <a:solidFill>
                  <a:srgbClr val="272525"/>
                </a:solidFill>
                <a:latin typeface="Inter" pitchFamily="34" charset="0"/>
                <a:ea typeface="Inter" pitchFamily="34" charset="-122"/>
                <a:cs typeface="Inter" pitchFamily="34" charset="-120"/>
              </a:rPr>
              <a:t>Redirect inventory and marketing spend to maximize returns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568291" y="542925"/>
            <a:ext cx="6310074" cy="546616"/>
          </a:xfrm>
          <a:prstGeom prst="rect">
            <a:avLst/>
          </a:prstGeom>
          <a:noFill/>
          <a:ln/>
        </p:spPr>
        <p:txBody>
          <a:bodyPr wrap="none" lIns="0" tIns="0" rIns="0" bIns="0" rtlCol="0" anchor="t"/>
          <a:lstStyle/>
          <a:p>
            <a:pPr algn="l" indent="0" marL="0">
              <a:lnSpc>
                <a:spcPts val="4300"/>
              </a:lnSpc>
              <a:buNone/>
            </a:pPr>
            <a:r>
              <a:rPr lang="en-US" sz="3400" b="1" dirty="0">
                <a:solidFill>
                  <a:srgbClr val="000000"/>
                </a:solidFill>
                <a:latin typeface="Petrona Bold" pitchFamily="34" charset="0"/>
                <a:ea typeface="Petrona Bold" pitchFamily="34" charset="-122"/>
                <a:cs typeface="Petrona Bold" pitchFamily="34" charset="-120"/>
              </a:rPr>
              <a:t>Interactive Power BI Dashboard</a:t>
            </a:r>
            <a:endParaRPr lang="en-US" sz="3400" dirty="0"/>
          </a:p>
        </p:txBody>
      </p:sp>
      <p:sp>
        <p:nvSpPr>
          <p:cNvPr id="3" name="Text 1"/>
          <p:cNvSpPr/>
          <p:nvPr/>
        </p:nvSpPr>
        <p:spPr>
          <a:xfrm>
            <a:off x="1568291" y="3393877"/>
            <a:ext cx="2348508" cy="273248"/>
          </a:xfrm>
          <a:prstGeom prst="rect">
            <a:avLst/>
          </a:prstGeom>
          <a:noFill/>
          <a:ln/>
        </p:spPr>
        <p:txBody>
          <a:bodyPr wrap="none" lIns="0" tIns="0" rIns="0" bIns="0" rtlCol="0" anchor="t"/>
          <a:lstStyle/>
          <a:p>
            <a:pPr algn="l" indent="0" marL="0">
              <a:lnSpc>
                <a:spcPts val="2150"/>
              </a:lnSpc>
              <a:buNone/>
            </a:pPr>
            <a:r>
              <a:rPr lang="en-US" sz="1700" b="1" dirty="0">
                <a:solidFill>
                  <a:srgbClr val="000000"/>
                </a:solidFill>
                <a:latin typeface="Petrona Bold" pitchFamily="34" charset="0"/>
                <a:ea typeface="Petrona Bold" pitchFamily="34" charset="-122"/>
                <a:cs typeface="Petrona Bold" pitchFamily="34" charset="-120"/>
              </a:rPr>
              <a:t>User-Friendly Interface</a:t>
            </a:r>
            <a:endParaRPr lang="en-US" sz="1700" dirty="0"/>
          </a:p>
        </p:txBody>
      </p:sp>
      <p:sp>
        <p:nvSpPr>
          <p:cNvPr id="4" name="Text 2"/>
          <p:cNvSpPr/>
          <p:nvPr/>
        </p:nvSpPr>
        <p:spPr>
          <a:xfrm>
            <a:off x="1568291" y="3789402"/>
            <a:ext cx="4948714" cy="693301"/>
          </a:xfrm>
          <a:prstGeom prst="rect">
            <a:avLst/>
          </a:prstGeom>
          <a:noFill/>
          <a:ln/>
        </p:spPr>
        <p:txBody>
          <a:bodyPr wrap="square" lIns="0" tIns="0" rIns="0" bIns="0" rtlCol="0" anchor="t"/>
          <a:lstStyle/>
          <a:p>
            <a:pPr algn="l" indent="0" marL="0">
              <a:lnSpc>
                <a:spcPts val="1800"/>
              </a:lnSpc>
              <a:buNone/>
            </a:pPr>
            <a:r>
              <a:rPr lang="en-US" sz="1300" dirty="0">
                <a:solidFill>
                  <a:srgbClr val="272525"/>
                </a:solidFill>
                <a:latin typeface="Inter" pitchFamily="34" charset="0"/>
                <a:ea typeface="Inter" pitchFamily="34" charset="-122"/>
                <a:cs typeface="Inter" pitchFamily="34" charset="-120"/>
              </a:rPr>
              <a:t>The dashboard consolidates all analyzed data into interactive charts and visuals that empower stakeholders to make informed decisions based on real-time insights.</a:t>
            </a:r>
            <a:endParaRPr lang="en-US" sz="1300" dirty="0"/>
          </a:p>
        </p:txBody>
      </p:sp>
      <p:sp>
        <p:nvSpPr>
          <p:cNvPr id="5" name="Text 3"/>
          <p:cNvSpPr/>
          <p:nvPr/>
        </p:nvSpPr>
        <p:spPr>
          <a:xfrm>
            <a:off x="1568291" y="4592717"/>
            <a:ext cx="4948714" cy="1052632"/>
          </a:xfrm>
          <a:prstGeom prst="rect">
            <a:avLst/>
          </a:prstGeom>
          <a:noFill/>
          <a:ln/>
        </p:spPr>
        <p:txBody>
          <a:bodyPr wrap="square" lIns="0" tIns="0" rIns="0" bIns="0" rtlCol="0" anchor="t"/>
          <a:lstStyle/>
          <a:p>
            <a:pPr algn="l" marL="342900" indent="-342900">
              <a:lnSpc>
                <a:spcPts val="1800"/>
              </a:lnSpc>
              <a:buSzPct val="100000"/>
              <a:buChar char="•"/>
            </a:pPr>
            <a:r>
              <a:rPr lang="en-US" sz="1300" dirty="0">
                <a:solidFill>
                  <a:srgbClr val="272525"/>
                </a:solidFill>
                <a:latin typeface="Inter" pitchFamily="34" charset="0"/>
                <a:ea typeface="Inter" pitchFamily="34" charset="-122"/>
                <a:cs typeface="Inter" pitchFamily="34" charset="-120"/>
              </a:rPr>
              <a:t>Interactive filters for dynamic data exploration</a:t>
            </a:r>
            <a:endParaRPr lang="en-US" sz="1300" dirty="0"/>
          </a:p>
          <a:p>
            <a:pPr algn="l" marL="342900" indent="-342900">
              <a:lnSpc>
                <a:spcPts val="1800"/>
              </a:lnSpc>
              <a:buSzPct val="100000"/>
              <a:buChar char="•"/>
            </a:pPr>
            <a:r>
              <a:rPr lang="en-US" sz="1300" dirty="0">
                <a:solidFill>
                  <a:srgbClr val="272525"/>
                </a:solidFill>
                <a:latin typeface="Inter" pitchFamily="34" charset="0"/>
                <a:ea typeface="Inter" pitchFamily="34" charset="-122"/>
                <a:cs typeface="Inter" pitchFamily="34" charset="-120"/>
              </a:rPr>
              <a:t>Drill-down capabilities for detailed analysis</a:t>
            </a:r>
            <a:endParaRPr lang="en-US" sz="1300" dirty="0"/>
          </a:p>
          <a:p>
            <a:pPr algn="l" marL="342900" indent="-342900">
              <a:lnSpc>
                <a:spcPts val="1800"/>
              </a:lnSpc>
              <a:buSzPct val="100000"/>
              <a:buChar char="•"/>
            </a:pPr>
            <a:r>
              <a:rPr lang="en-US" sz="1300" dirty="0">
                <a:solidFill>
                  <a:srgbClr val="272525"/>
                </a:solidFill>
                <a:latin typeface="Inter" pitchFamily="34" charset="0"/>
                <a:ea typeface="Inter" pitchFamily="34" charset="-122"/>
                <a:cs typeface="Inter" pitchFamily="34" charset="-120"/>
              </a:rPr>
              <a:t>Real-time data refresh for current information</a:t>
            </a:r>
            <a:endParaRPr lang="en-US" sz="1300" dirty="0"/>
          </a:p>
          <a:p>
            <a:pPr algn="l" marL="342900" indent="-342900">
              <a:lnSpc>
                <a:spcPts val="1800"/>
              </a:lnSpc>
              <a:buSzPct val="100000"/>
              <a:buChar char="•"/>
            </a:pPr>
            <a:r>
              <a:rPr lang="en-US" sz="1300" dirty="0">
                <a:solidFill>
                  <a:srgbClr val="272525"/>
                </a:solidFill>
                <a:latin typeface="Inter" pitchFamily="34" charset="0"/>
                <a:ea typeface="Inter" pitchFamily="34" charset="-122"/>
                <a:cs typeface="Inter" pitchFamily="34" charset="-120"/>
              </a:rPr>
              <a:t>Mobile-responsive design for accessibility</a:t>
            </a:r>
            <a:endParaRPr lang="en-US" sz="1300" dirty="0"/>
          </a:p>
        </p:txBody>
      </p:sp>
      <p:pic>
        <p:nvPicPr>
          <p:cNvPr id="6" name="Image 0" descr="preencoded.png">    </p:cNvPr>
          <p:cNvPicPr>
            <a:picLocks noChangeAspect="1"/>
          </p:cNvPicPr>
          <p:nvPr/>
        </p:nvPicPr>
        <p:blipFill>
          <a:blip r:embed="rId1"/>
          <a:stretch>
            <a:fillRect/>
          </a:stretch>
        </p:blipFill>
        <p:spPr>
          <a:xfrm>
            <a:off x="6930866" y="1410533"/>
            <a:ext cx="6138624" cy="61386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000250"/>
            <a:ext cx="5954197" cy="744260"/>
          </a:xfrm>
          <a:prstGeom prst="rect">
            <a:avLst/>
          </a:prstGeom>
          <a:noFill/>
          <a:ln/>
        </p:spPr>
        <p:txBody>
          <a:bodyPr wrap="none" lIns="0" tIns="0" rIns="0" bIns="0" rtlCol="0" anchor="t"/>
          <a:lstStyle/>
          <a:p>
            <a:pPr algn="l" indent="0" marL="0">
              <a:lnSpc>
                <a:spcPts val="5850"/>
              </a:lnSpc>
              <a:buNone/>
            </a:pPr>
            <a:r>
              <a:rPr lang="en-US" sz="4650" b="1" dirty="0">
                <a:solidFill>
                  <a:srgbClr val="000000"/>
                </a:solidFill>
                <a:latin typeface="Petrona Bold" pitchFamily="34" charset="0"/>
                <a:ea typeface="Petrona Bold" pitchFamily="34" charset="-122"/>
                <a:cs typeface="Petrona Bold" pitchFamily="34" charset="-120"/>
              </a:rPr>
              <a:t>Secondary Objectives</a:t>
            </a:r>
            <a:endParaRPr lang="en-US" sz="4650" dirty="0"/>
          </a:p>
        </p:txBody>
      </p:sp>
      <p:sp>
        <p:nvSpPr>
          <p:cNvPr id="3" name="Text 1"/>
          <p:cNvSpPr/>
          <p:nvPr/>
        </p:nvSpPr>
        <p:spPr>
          <a:xfrm>
            <a:off x="793790" y="3198138"/>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Petrona Light" pitchFamily="34" charset="0"/>
                <a:ea typeface="Petrona Light" pitchFamily="34" charset="-122"/>
                <a:cs typeface="Petrona Light" pitchFamily="34" charset="-120"/>
              </a:rPr>
              <a:t>01</a:t>
            </a:r>
            <a:endParaRPr lang="en-US" sz="1750" dirty="0"/>
          </a:p>
        </p:txBody>
      </p:sp>
      <p:sp>
        <p:nvSpPr>
          <p:cNvPr id="4" name="Shape 2"/>
          <p:cNvSpPr/>
          <p:nvPr/>
        </p:nvSpPr>
        <p:spPr>
          <a:xfrm>
            <a:off x="793790" y="3553182"/>
            <a:ext cx="4196358" cy="30480"/>
          </a:xfrm>
          <a:prstGeom prst="rect">
            <a:avLst/>
          </a:prstGeom>
          <a:solidFill>
            <a:srgbClr val="007EBD"/>
          </a:solidFill>
          <a:ln/>
        </p:spPr>
      </p:sp>
      <p:sp>
        <p:nvSpPr>
          <p:cNvPr id="5" name="Text 3"/>
          <p:cNvSpPr/>
          <p:nvPr/>
        </p:nvSpPr>
        <p:spPr>
          <a:xfrm>
            <a:off x="793790" y="3727490"/>
            <a:ext cx="4196358" cy="744141"/>
          </a:xfrm>
          <a:prstGeom prst="rect">
            <a:avLst/>
          </a:prstGeom>
          <a:noFill/>
          <a:ln/>
        </p:spPr>
        <p:txBody>
          <a:bodyPr wrap="square" lIns="0" tIns="0" rIns="0" bIns="0" rtlCol="0" anchor="t"/>
          <a:lstStyle/>
          <a:p>
            <a:pPr algn="l" indent="0" marL="0">
              <a:lnSpc>
                <a:spcPts val="2900"/>
              </a:lnSpc>
              <a:buNone/>
            </a:pPr>
            <a:r>
              <a:rPr lang="en-US" sz="2300" b="1" dirty="0">
                <a:solidFill>
                  <a:srgbClr val="272525"/>
                </a:solidFill>
                <a:latin typeface="Petrona Bold" pitchFamily="34" charset="0"/>
                <a:ea typeface="Petrona Bold" pitchFamily="34" charset="-122"/>
                <a:cs typeface="Petrona Bold" pitchFamily="34" charset="-120"/>
              </a:rPr>
              <a:t>Develop Key Performance Indicators</a:t>
            </a:r>
            <a:endParaRPr lang="en-US" sz="2300" dirty="0"/>
          </a:p>
        </p:txBody>
      </p:sp>
      <p:sp>
        <p:nvSpPr>
          <p:cNvPr id="6" name="Text 4"/>
          <p:cNvSpPr/>
          <p:nvPr/>
        </p:nvSpPr>
        <p:spPr>
          <a:xfrm>
            <a:off x="793790" y="4607719"/>
            <a:ext cx="4196358"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Create comprehensive KPIs including total sales, average customer rating, and number of items sold to measure business performance</a:t>
            </a:r>
            <a:endParaRPr lang="en-US" sz="1750" dirty="0"/>
          </a:p>
        </p:txBody>
      </p:sp>
      <p:sp>
        <p:nvSpPr>
          <p:cNvPr id="7" name="Text 5"/>
          <p:cNvSpPr/>
          <p:nvPr/>
        </p:nvSpPr>
        <p:spPr>
          <a:xfrm>
            <a:off x="5216962" y="3198138"/>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Petrona Light" pitchFamily="34" charset="0"/>
                <a:ea typeface="Petrona Light" pitchFamily="34" charset="-122"/>
                <a:cs typeface="Petrona Light" pitchFamily="34" charset="-120"/>
              </a:rPr>
              <a:t>02</a:t>
            </a:r>
            <a:endParaRPr lang="en-US" sz="1750" dirty="0"/>
          </a:p>
        </p:txBody>
      </p:sp>
      <p:sp>
        <p:nvSpPr>
          <p:cNvPr id="8" name="Shape 6"/>
          <p:cNvSpPr/>
          <p:nvPr/>
        </p:nvSpPr>
        <p:spPr>
          <a:xfrm>
            <a:off x="5216962" y="3553182"/>
            <a:ext cx="4196358" cy="30480"/>
          </a:xfrm>
          <a:prstGeom prst="rect">
            <a:avLst/>
          </a:prstGeom>
          <a:solidFill>
            <a:srgbClr val="007EBD"/>
          </a:solidFill>
          <a:ln/>
        </p:spPr>
      </p:sp>
      <p:sp>
        <p:nvSpPr>
          <p:cNvPr id="9" name="Text 7"/>
          <p:cNvSpPr/>
          <p:nvPr/>
        </p:nvSpPr>
        <p:spPr>
          <a:xfrm>
            <a:off x="5216962" y="3727490"/>
            <a:ext cx="4196358" cy="744141"/>
          </a:xfrm>
          <a:prstGeom prst="rect">
            <a:avLst/>
          </a:prstGeom>
          <a:noFill/>
          <a:ln/>
        </p:spPr>
        <p:txBody>
          <a:bodyPr wrap="square" lIns="0" tIns="0" rIns="0" bIns="0" rtlCol="0" anchor="t"/>
          <a:lstStyle/>
          <a:p>
            <a:pPr algn="l" indent="0" marL="0">
              <a:lnSpc>
                <a:spcPts val="2900"/>
              </a:lnSpc>
              <a:buNone/>
            </a:pPr>
            <a:r>
              <a:rPr lang="en-US" sz="2300" b="1" dirty="0">
                <a:solidFill>
                  <a:srgbClr val="272525"/>
                </a:solidFill>
                <a:latin typeface="Petrona Bold" pitchFamily="34" charset="0"/>
                <a:ea typeface="Petrona Bold" pitchFamily="34" charset="-122"/>
                <a:cs typeface="Petrona Bold" pitchFamily="34" charset="-120"/>
              </a:rPr>
              <a:t>Build Calculated Fields with DAX</a:t>
            </a:r>
            <a:endParaRPr lang="en-US" sz="2300" dirty="0"/>
          </a:p>
        </p:txBody>
      </p:sp>
      <p:sp>
        <p:nvSpPr>
          <p:cNvPr id="10" name="Text 8"/>
          <p:cNvSpPr/>
          <p:nvPr/>
        </p:nvSpPr>
        <p:spPr>
          <a:xfrm>
            <a:off x="5216962" y="4607719"/>
            <a:ext cx="4196358"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Use Data Analysis Expressions to enhance analytical capabilities and create custom metrics for deeper insights</a:t>
            </a:r>
            <a:endParaRPr lang="en-US" sz="1750" dirty="0"/>
          </a:p>
        </p:txBody>
      </p:sp>
      <p:sp>
        <p:nvSpPr>
          <p:cNvPr id="11" name="Text 9"/>
          <p:cNvSpPr/>
          <p:nvPr/>
        </p:nvSpPr>
        <p:spPr>
          <a:xfrm>
            <a:off x="9640133" y="3198138"/>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Petrona Light" pitchFamily="34" charset="0"/>
                <a:ea typeface="Petrona Light" pitchFamily="34" charset="-122"/>
                <a:cs typeface="Petrona Light" pitchFamily="34" charset="-120"/>
              </a:rPr>
              <a:t>03</a:t>
            </a:r>
            <a:endParaRPr lang="en-US" sz="1750" dirty="0"/>
          </a:p>
        </p:txBody>
      </p:sp>
      <p:sp>
        <p:nvSpPr>
          <p:cNvPr id="12" name="Shape 10"/>
          <p:cNvSpPr/>
          <p:nvPr/>
        </p:nvSpPr>
        <p:spPr>
          <a:xfrm>
            <a:off x="9640133" y="3553182"/>
            <a:ext cx="4196358" cy="30480"/>
          </a:xfrm>
          <a:prstGeom prst="rect">
            <a:avLst/>
          </a:prstGeom>
          <a:solidFill>
            <a:srgbClr val="007EBD"/>
          </a:solidFill>
          <a:ln/>
        </p:spPr>
      </p:sp>
      <p:sp>
        <p:nvSpPr>
          <p:cNvPr id="13" name="Text 11"/>
          <p:cNvSpPr/>
          <p:nvPr/>
        </p:nvSpPr>
        <p:spPr>
          <a:xfrm>
            <a:off x="9640133" y="3727490"/>
            <a:ext cx="4031099" cy="372070"/>
          </a:xfrm>
          <a:prstGeom prst="rect">
            <a:avLst/>
          </a:prstGeom>
          <a:noFill/>
          <a:ln/>
        </p:spPr>
        <p:txBody>
          <a:bodyPr wrap="none" lIns="0" tIns="0" rIns="0" bIns="0" rtlCol="0" anchor="t"/>
          <a:lstStyle/>
          <a:p>
            <a:pPr algn="l" indent="0" marL="0">
              <a:lnSpc>
                <a:spcPts val="2900"/>
              </a:lnSpc>
              <a:buNone/>
            </a:pPr>
            <a:r>
              <a:rPr lang="en-US" sz="2300" b="1" dirty="0">
                <a:solidFill>
                  <a:srgbClr val="272525"/>
                </a:solidFill>
                <a:latin typeface="Petrona Bold" pitchFamily="34" charset="0"/>
                <a:ea typeface="Petrona Bold" pitchFamily="34" charset="-122"/>
                <a:cs typeface="Petrona Bold" pitchFamily="34" charset="-120"/>
              </a:rPr>
              <a:t>Establish Table Relationships</a:t>
            </a:r>
            <a:endParaRPr lang="en-US" sz="2300" dirty="0"/>
          </a:p>
        </p:txBody>
      </p:sp>
      <p:sp>
        <p:nvSpPr>
          <p:cNvPr id="14" name="Text 12"/>
          <p:cNvSpPr/>
          <p:nvPr/>
        </p:nvSpPr>
        <p:spPr>
          <a:xfrm>
            <a:off x="9640133" y="4235648"/>
            <a:ext cx="4196358"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Integrate relationships between tables in Power Query to ensure comprehensive and accurate data analysis across all sources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11173"/>
            <a:ext cx="5954197" cy="744260"/>
          </a:xfrm>
          <a:prstGeom prst="rect">
            <a:avLst/>
          </a:prstGeom>
          <a:noFill/>
          <a:ln/>
        </p:spPr>
        <p:txBody>
          <a:bodyPr wrap="none" lIns="0" tIns="0" rIns="0" bIns="0" rtlCol="0" anchor="t"/>
          <a:lstStyle/>
          <a:p>
            <a:pPr algn="l" indent="0" marL="0">
              <a:lnSpc>
                <a:spcPts val="5850"/>
              </a:lnSpc>
              <a:buNone/>
            </a:pPr>
            <a:r>
              <a:rPr lang="en-US" sz="4650" b="1" dirty="0">
                <a:solidFill>
                  <a:srgbClr val="000000"/>
                </a:solidFill>
                <a:latin typeface="Petrona Bold" pitchFamily="34" charset="0"/>
                <a:ea typeface="Petrona Bold" pitchFamily="34" charset="-122"/>
                <a:cs typeface="Petrona Bold" pitchFamily="34" charset="-120"/>
              </a:rPr>
              <a:t>Success Criteria</a:t>
            </a:r>
            <a:endParaRPr lang="en-US" sz="4650" dirty="0"/>
          </a:p>
        </p:txBody>
      </p:sp>
      <p:sp>
        <p:nvSpPr>
          <p:cNvPr id="3" name="Text 1"/>
          <p:cNvSpPr/>
          <p:nvPr/>
        </p:nvSpPr>
        <p:spPr>
          <a:xfrm>
            <a:off x="793790" y="200906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project is considered successful when these measurable outcomes are achieved</a:t>
            </a:r>
            <a:endParaRPr lang="en-US" sz="1750" dirty="0"/>
          </a:p>
        </p:txBody>
      </p:sp>
      <p:sp>
        <p:nvSpPr>
          <p:cNvPr id="4" name="Shape 2"/>
          <p:cNvSpPr/>
          <p:nvPr/>
        </p:nvSpPr>
        <p:spPr>
          <a:xfrm>
            <a:off x="793790" y="2627114"/>
            <a:ext cx="4196358" cy="3209330"/>
          </a:xfrm>
          <a:prstGeom prst="roundRect">
            <a:avLst>
              <a:gd name="adj" fmla="val 4559"/>
            </a:avLst>
          </a:prstGeom>
          <a:solidFill>
            <a:srgbClr val="FFFFFF">
              <a:alpha val="95000"/>
            </a:srgbClr>
          </a:solidFill>
          <a:ln w="30480">
            <a:solidFill>
              <a:srgbClr val="B2D4E5"/>
            </a:solidFill>
            <a:prstDash val="solid"/>
          </a:ln>
        </p:spPr>
      </p:sp>
      <p:sp>
        <p:nvSpPr>
          <p:cNvPr id="5" name="Shape 3"/>
          <p:cNvSpPr/>
          <p:nvPr/>
        </p:nvSpPr>
        <p:spPr>
          <a:xfrm>
            <a:off x="763310" y="2627114"/>
            <a:ext cx="121920" cy="3209330"/>
          </a:xfrm>
          <a:prstGeom prst="roundRect">
            <a:avLst>
              <a:gd name="adj" fmla="val 78139"/>
            </a:avLst>
          </a:prstGeom>
          <a:solidFill>
            <a:srgbClr val="007EBD"/>
          </a:solidFill>
          <a:ln/>
        </p:spPr>
      </p:sp>
      <p:sp>
        <p:nvSpPr>
          <p:cNvPr id="6" name="Text 4"/>
          <p:cNvSpPr/>
          <p:nvPr/>
        </p:nvSpPr>
        <p:spPr>
          <a:xfrm>
            <a:off x="1142524" y="2884408"/>
            <a:ext cx="3590330" cy="744141"/>
          </a:xfrm>
          <a:prstGeom prst="rect">
            <a:avLst/>
          </a:prstGeom>
          <a:noFill/>
          <a:ln/>
        </p:spPr>
        <p:txBody>
          <a:bodyPr wrap="square" lIns="0" tIns="0" rIns="0" bIns="0" rtlCol="0" anchor="t"/>
          <a:lstStyle/>
          <a:p>
            <a:pPr algn="l" indent="0" marL="0">
              <a:lnSpc>
                <a:spcPts val="2900"/>
              </a:lnSpc>
              <a:buNone/>
            </a:pPr>
            <a:r>
              <a:rPr lang="en-US" sz="2300" b="1" dirty="0">
                <a:solidFill>
                  <a:srgbClr val="272525"/>
                </a:solidFill>
                <a:latin typeface="Petrona Bold" pitchFamily="34" charset="0"/>
                <a:ea typeface="Petrona Bold" pitchFamily="34" charset="-122"/>
                <a:cs typeface="Petrona Bold" pitchFamily="34" charset="-120"/>
              </a:rPr>
              <a:t>Accurate Metrics and KPIs</a:t>
            </a:r>
            <a:endParaRPr lang="en-US" sz="2300" dirty="0"/>
          </a:p>
        </p:txBody>
      </p:sp>
      <p:sp>
        <p:nvSpPr>
          <p:cNvPr id="7" name="Text 5"/>
          <p:cNvSpPr/>
          <p:nvPr/>
        </p:nvSpPr>
        <p:spPr>
          <a:xfrm>
            <a:off x="1142524" y="3764637"/>
            <a:ext cx="3590330"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Power BI dashboard accurately reflects all key metrics and KPIs, providing a reliable source of truth for decision-making</a:t>
            </a:r>
            <a:endParaRPr lang="en-US" sz="1750" dirty="0"/>
          </a:p>
        </p:txBody>
      </p:sp>
      <p:sp>
        <p:nvSpPr>
          <p:cNvPr id="8" name="Shape 6"/>
          <p:cNvSpPr/>
          <p:nvPr/>
        </p:nvSpPr>
        <p:spPr>
          <a:xfrm>
            <a:off x="5216962" y="2627114"/>
            <a:ext cx="4196358" cy="3209330"/>
          </a:xfrm>
          <a:prstGeom prst="roundRect">
            <a:avLst>
              <a:gd name="adj" fmla="val 4559"/>
            </a:avLst>
          </a:prstGeom>
          <a:solidFill>
            <a:srgbClr val="FFFFFF">
              <a:alpha val="95000"/>
            </a:srgbClr>
          </a:solidFill>
          <a:ln w="30480">
            <a:solidFill>
              <a:srgbClr val="B2D4E5"/>
            </a:solidFill>
            <a:prstDash val="solid"/>
          </a:ln>
        </p:spPr>
      </p:sp>
      <p:sp>
        <p:nvSpPr>
          <p:cNvPr id="9" name="Shape 7"/>
          <p:cNvSpPr/>
          <p:nvPr/>
        </p:nvSpPr>
        <p:spPr>
          <a:xfrm>
            <a:off x="5186482" y="2627114"/>
            <a:ext cx="121920" cy="3209330"/>
          </a:xfrm>
          <a:prstGeom prst="roundRect">
            <a:avLst>
              <a:gd name="adj" fmla="val 78139"/>
            </a:avLst>
          </a:prstGeom>
          <a:solidFill>
            <a:srgbClr val="007EBD"/>
          </a:solidFill>
          <a:ln/>
        </p:spPr>
      </p:sp>
      <p:sp>
        <p:nvSpPr>
          <p:cNvPr id="10" name="Text 8"/>
          <p:cNvSpPr/>
          <p:nvPr/>
        </p:nvSpPr>
        <p:spPr>
          <a:xfrm>
            <a:off x="5565696" y="2884408"/>
            <a:ext cx="3590330" cy="744141"/>
          </a:xfrm>
          <a:prstGeom prst="rect">
            <a:avLst/>
          </a:prstGeom>
          <a:noFill/>
          <a:ln/>
        </p:spPr>
        <p:txBody>
          <a:bodyPr wrap="square" lIns="0" tIns="0" rIns="0" bIns="0" rtlCol="0" anchor="t"/>
          <a:lstStyle/>
          <a:p>
            <a:pPr algn="l" indent="0" marL="0">
              <a:lnSpc>
                <a:spcPts val="2900"/>
              </a:lnSpc>
              <a:buNone/>
            </a:pPr>
            <a:r>
              <a:rPr lang="en-US" sz="2300" b="1" dirty="0">
                <a:solidFill>
                  <a:srgbClr val="272525"/>
                </a:solidFill>
                <a:latin typeface="Petrona Bold" pitchFamily="34" charset="0"/>
                <a:ea typeface="Petrona Bold" pitchFamily="34" charset="-122"/>
                <a:cs typeface="Petrona Bold" pitchFamily="34" charset="-120"/>
              </a:rPr>
              <a:t>Intuitive and Interactive Design</a:t>
            </a:r>
            <a:endParaRPr lang="en-US" sz="2300" dirty="0"/>
          </a:p>
        </p:txBody>
      </p:sp>
      <p:sp>
        <p:nvSpPr>
          <p:cNvPr id="11" name="Text 9"/>
          <p:cNvSpPr/>
          <p:nvPr/>
        </p:nvSpPr>
        <p:spPr>
          <a:xfrm>
            <a:off x="5565696" y="3764637"/>
            <a:ext cx="3590330"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Charts and visuals are intuitive and easy to understand, enabling stakeholders to identify actionable insights quickly without technical expertise</a:t>
            </a:r>
            <a:endParaRPr lang="en-US" sz="1750" dirty="0"/>
          </a:p>
        </p:txBody>
      </p:sp>
      <p:sp>
        <p:nvSpPr>
          <p:cNvPr id="12" name="Shape 10"/>
          <p:cNvSpPr/>
          <p:nvPr/>
        </p:nvSpPr>
        <p:spPr>
          <a:xfrm>
            <a:off x="9640133" y="2627114"/>
            <a:ext cx="4196358" cy="3209330"/>
          </a:xfrm>
          <a:prstGeom prst="roundRect">
            <a:avLst>
              <a:gd name="adj" fmla="val 4559"/>
            </a:avLst>
          </a:prstGeom>
          <a:solidFill>
            <a:srgbClr val="FFFFFF">
              <a:alpha val="95000"/>
            </a:srgbClr>
          </a:solidFill>
          <a:ln w="30480">
            <a:solidFill>
              <a:srgbClr val="B2D4E5"/>
            </a:solidFill>
            <a:prstDash val="solid"/>
          </a:ln>
        </p:spPr>
      </p:sp>
      <p:sp>
        <p:nvSpPr>
          <p:cNvPr id="13" name="Shape 11"/>
          <p:cNvSpPr/>
          <p:nvPr/>
        </p:nvSpPr>
        <p:spPr>
          <a:xfrm>
            <a:off x="9609653" y="2627114"/>
            <a:ext cx="121920" cy="3209330"/>
          </a:xfrm>
          <a:prstGeom prst="roundRect">
            <a:avLst>
              <a:gd name="adj" fmla="val 78139"/>
            </a:avLst>
          </a:prstGeom>
          <a:solidFill>
            <a:srgbClr val="007EBD"/>
          </a:solidFill>
          <a:ln/>
        </p:spPr>
      </p:sp>
      <p:sp>
        <p:nvSpPr>
          <p:cNvPr id="14" name="Text 12"/>
          <p:cNvSpPr/>
          <p:nvPr/>
        </p:nvSpPr>
        <p:spPr>
          <a:xfrm>
            <a:off x="9988868" y="2884408"/>
            <a:ext cx="3590330" cy="744141"/>
          </a:xfrm>
          <a:prstGeom prst="rect">
            <a:avLst/>
          </a:prstGeom>
          <a:noFill/>
          <a:ln/>
        </p:spPr>
        <p:txBody>
          <a:bodyPr wrap="square" lIns="0" tIns="0" rIns="0" bIns="0" rtlCol="0" anchor="t"/>
          <a:lstStyle/>
          <a:p>
            <a:pPr algn="l" indent="0" marL="0">
              <a:lnSpc>
                <a:spcPts val="2900"/>
              </a:lnSpc>
              <a:buNone/>
            </a:pPr>
            <a:r>
              <a:rPr lang="en-US" sz="2300" b="1" dirty="0">
                <a:solidFill>
                  <a:srgbClr val="272525"/>
                </a:solidFill>
                <a:latin typeface="Petrona Bold" pitchFamily="34" charset="0"/>
                <a:ea typeface="Petrona Bold" pitchFamily="34" charset="-122"/>
                <a:cs typeface="Petrona Bold" pitchFamily="34" charset="-120"/>
              </a:rPr>
              <a:t>Data-Driven Decision Making</a:t>
            </a:r>
            <a:endParaRPr lang="en-US" sz="2300" dirty="0"/>
          </a:p>
        </p:txBody>
      </p:sp>
      <p:sp>
        <p:nvSpPr>
          <p:cNvPr id="15" name="Text 13"/>
          <p:cNvSpPr/>
          <p:nvPr/>
        </p:nvSpPr>
        <p:spPr>
          <a:xfrm>
            <a:off x="9988868" y="3764637"/>
            <a:ext cx="3590330"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Business stakeholders can use the dashboard to make informed decisions that drive sales growth and improve customer satisfaction</a:t>
            </a:r>
            <a:endParaRPr lang="en-US" sz="1750" dirty="0"/>
          </a:p>
        </p:txBody>
      </p:sp>
      <p:sp>
        <p:nvSpPr>
          <p:cNvPr id="16" name="Shape 14"/>
          <p:cNvSpPr/>
          <p:nvPr/>
        </p:nvSpPr>
        <p:spPr>
          <a:xfrm>
            <a:off x="793790" y="6091595"/>
            <a:ext cx="13042821" cy="1326713"/>
          </a:xfrm>
          <a:prstGeom prst="roundRect">
            <a:avLst>
              <a:gd name="adj" fmla="val 7181"/>
            </a:avLst>
          </a:prstGeom>
          <a:solidFill>
            <a:srgbClr val="B3E5FF"/>
          </a:solidFill>
          <a:ln/>
        </p:spPr>
      </p:sp>
      <p:pic>
        <p:nvPicPr>
          <p:cNvPr id="17" name="Image 0" descr="preencoded.png">    </p:cNvPr>
          <p:cNvPicPr>
            <a:picLocks noChangeAspect="1"/>
          </p:cNvPicPr>
          <p:nvPr/>
        </p:nvPicPr>
        <p:blipFill>
          <a:blip r:embed="rId1"/>
          <a:stretch>
            <a:fillRect/>
          </a:stretch>
        </p:blipFill>
        <p:spPr>
          <a:xfrm>
            <a:off x="1020604" y="6435685"/>
            <a:ext cx="283488" cy="226814"/>
          </a:xfrm>
          <a:prstGeom prst="rect">
            <a:avLst/>
          </a:prstGeom>
        </p:spPr>
      </p:pic>
      <p:sp>
        <p:nvSpPr>
          <p:cNvPr id="18" name="Text 15"/>
          <p:cNvSpPr/>
          <p:nvPr/>
        </p:nvSpPr>
        <p:spPr>
          <a:xfrm>
            <a:off x="1530906" y="6375083"/>
            <a:ext cx="12078891"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Inter" pitchFamily="34" charset="0"/>
                <a:ea typeface="Inter" pitchFamily="34" charset="-122"/>
                <a:cs typeface="Inter" pitchFamily="34" charset="-120"/>
              </a:rPr>
              <a:t>Scope Note:</a:t>
            </a:r>
            <a:pPr algn="l" indent="0" marL="0">
              <a:lnSpc>
                <a:spcPts val="2850"/>
              </a:lnSpc>
              <a:buNone/>
            </a:pPr>
            <a:r>
              <a:rPr lang="en-US" sz="1750" dirty="0">
                <a:solidFill>
                  <a:srgbClr val="000000"/>
                </a:solidFill>
                <a:latin typeface="Inter" pitchFamily="34" charset="0"/>
                <a:ea typeface="Inter" pitchFamily="34" charset="-122"/>
                <a:cs typeface="Inter" pitchFamily="34" charset="-120"/>
              </a:rPr>
              <a:t> Current phase focuses on marketing and customer data analysis. Beverages category, real-time integration, and advanced Python/SQL analytics are planned for future enhancements.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2026-04-23T04:29:37Z</dcterms:created>
  <dcterms:modified xsi:type="dcterms:W3CDTF">2026-04-23T04:29:37Z</dcterms:modified>
</cp:coreProperties>
</file>